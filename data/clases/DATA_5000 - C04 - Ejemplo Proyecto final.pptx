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  <p:sldMasterId id="2147483712" r:id="rId5"/>
    <p:sldMasterId id="214748371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10287000" cx="18288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  <p:embeddedFont>
      <p:font typeface="Montserrat Light"/>
      <p:regular r:id="rId28"/>
      <p:bold r:id="rId29"/>
      <p:italic r:id="rId30"/>
      <p:boldItalic r:id="rId31"/>
    </p:embeddedFont>
    <p:embeddedFont>
      <p:font typeface="Archivo"/>
      <p:regular r:id="rId32"/>
      <p:bold r:id="rId33"/>
      <p:italic r:id="rId34"/>
      <p:boldItalic r:id="rId35"/>
    </p:embeddedFont>
    <p:embeddedFont>
      <p:font typeface="Questrial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572">
          <p15:clr>
            <a:srgbClr val="747775"/>
          </p15:clr>
        </p15:guide>
        <p15:guide id="2" orient="horz" pos="5329">
          <p15:clr>
            <a:srgbClr val="747775"/>
          </p15:clr>
        </p15:guide>
        <p15:guide id="3" orient="horz" pos="2272">
          <p15:clr>
            <a:srgbClr val="747775"/>
          </p15:clr>
        </p15:guide>
        <p15:guide id="4" orient="horz" pos="1910">
          <p15:clr>
            <a:srgbClr val="747775"/>
          </p15:clr>
        </p15:guide>
        <p15:guide id="5" pos="88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572" orient="horz"/>
        <p:guide pos="5329" orient="horz"/>
        <p:guide pos="2272" orient="horz"/>
        <p:guide pos="1910" orient="horz"/>
        <p:guide pos="88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8" Type="http://schemas.openxmlformats.org/officeDocument/2006/relationships/font" Target="fonts/MontserratLight-regular.fntdata"/><Relationship Id="rId27" Type="http://schemas.openxmlformats.org/officeDocument/2006/relationships/font" Target="fonts/MontserratMedium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ontserratLigh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Light-boldItalic.fntdata"/><Relationship Id="rId30" Type="http://schemas.openxmlformats.org/officeDocument/2006/relationships/font" Target="fonts/MontserratLight-italic.fntdata"/><Relationship Id="rId11" Type="http://schemas.openxmlformats.org/officeDocument/2006/relationships/slide" Target="slides/slide4.xml"/><Relationship Id="rId33" Type="http://schemas.openxmlformats.org/officeDocument/2006/relationships/font" Target="fonts/Archivo-bold.fntdata"/><Relationship Id="rId10" Type="http://schemas.openxmlformats.org/officeDocument/2006/relationships/slide" Target="slides/slide3.xml"/><Relationship Id="rId32" Type="http://schemas.openxmlformats.org/officeDocument/2006/relationships/font" Target="fonts/Archivo-regular.fntdata"/><Relationship Id="rId13" Type="http://schemas.openxmlformats.org/officeDocument/2006/relationships/slide" Target="slides/slide6.xml"/><Relationship Id="rId35" Type="http://schemas.openxmlformats.org/officeDocument/2006/relationships/font" Target="fonts/Archivo-boldItalic.fntdata"/><Relationship Id="rId12" Type="http://schemas.openxmlformats.org/officeDocument/2006/relationships/slide" Target="slides/slide5.xml"/><Relationship Id="rId34" Type="http://schemas.openxmlformats.org/officeDocument/2006/relationships/font" Target="fonts/Archiv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Questrial-regular.fntdata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1f53f46fb9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1f53f46fb9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1f53f46fb9c_0_2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1f53f46fb9c_0_2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1f53f46fb9c_0_2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1f53f46fb9c_0_2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1f7e8de288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1f7e8de288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1f7ee4f87f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1f7ee4f87f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1f7ee4f87f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1f7ee4f87f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f53f46fb9c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f53f46fb9c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1f53f46fb9c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1f53f46fb9c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9" l="9567" r="9" t="0"/>
          <a:stretch/>
        </p:blipFill>
        <p:spPr>
          <a:xfrm flipH="1">
            <a:off x="10156162" y="2576969"/>
            <a:ext cx="8131838" cy="77101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245571" y="7201458"/>
            <a:ext cx="4499701" cy="3085638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3926838" y="280450"/>
            <a:ext cx="4032322" cy="536147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1832330" y="4699050"/>
            <a:ext cx="78342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000">
                <a:solidFill>
                  <a:schemeClr val="lt1"/>
                </a:solidFill>
              </a:rPr>
              <a:t>–</a:t>
            </a:r>
            <a:endParaRPr b="1" sz="70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91671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22489" y="4976376"/>
            <a:ext cx="9716552" cy="5310627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17493237" y="9740523"/>
            <a:ext cx="429608" cy="178322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9144000" y="0"/>
            <a:ext cx="91671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1061100" y="3926450"/>
            <a:ext cx="71508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54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214098" y="4585337"/>
            <a:ext cx="1997811" cy="178325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9918850" y="1235250"/>
            <a:ext cx="8004000" cy="89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365538" y="246425"/>
            <a:ext cx="4067897" cy="536147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2727950"/>
            <a:ext cx="129000" cy="38931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12100" y="0"/>
            <a:ext cx="9167100" cy="1029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762750" y="3223450"/>
            <a:ext cx="8004000" cy="51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27050" lvl="0" marL="457200" rtl="0" algn="l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Clr>
                <a:srgbClr val="FDBF00"/>
              </a:buClr>
              <a:buSzPts val="4700"/>
              <a:buFont typeface="Archivo"/>
              <a:buChar char="■"/>
            </a:pPr>
            <a:r>
              <a:t/>
            </a:r>
            <a:endParaRPr sz="47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10619525" y="3926450"/>
            <a:ext cx="69864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54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54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11408876" y="5399029"/>
            <a:ext cx="3054779" cy="17835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14114972" y="6622814"/>
            <a:ext cx="4164766" cy="5272151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9330539" y="7201431"/>
            <a:ext cx="4929185" cy="3085476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9132050" y="0"/>
            <a:ext cx="91671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13906313" y="246425"/>
            <a:ext cx="4067897" cy="536147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385800" y="2145225"/>
            <a:ext cx="169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349075"/>
            <a:ext cx="18288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1638150" y="3716850"/>
            <a:ext cx="1653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1644052" y="1029000"/>
            <a:ext cx="4471800" cy="9669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1828850" y="2126550"/>
            <a:ext cx="122451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4000"/>
              <a:buFont typeface="Archivo"/>
              <a:buChar char="■"/>
            </a:pPr>
            <a:r>
              <a:t/>
            </a:r>
            <a:endParaRPr i="1"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6475" y="25"/>
            <a:ext cx="18293700" cy="3057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259200" y="143325"/>
            <a:ext cx="18020100" cy="2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3800"/>
              <a:buFont typeface="Archivo"/>
              <a:buChar char="■"/>
            </a:pPr>
            <a:r>
              <a:t/>
            </a:r>
            <a:endParaRPr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16623705" y="3528330"/>
            <a:ext cx="528000" cy="4569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13985213" y="9413600"/>
            <a:ext cx="3957972" cy="536147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650" y="2228425"/>
            <a:ext cx="16842701" cy="832602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594750" y="319950"/>
            <a:ext cx="1751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17681948" y="9879520"/>
            <a:ext cx="527999" cy="315573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1221450" y="2131075"/>
            <a:ext cx="1584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2366" y="4114801"/>
            <a:ext cx="12640974" cy="58223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15843073" y="9450575"/>
            <a:ext cx="2156936" cy="536147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385800" y="1794225"/>
            <a:ext cx="175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54124" y="3185675"/>
            <a:ext cx="15179753" cy="6991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17373898" y="9573845"/>
            <a:ext cx="527999" cy="315573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1828850" y="877875"/>
            <a:ext cx="3657600" cy="9669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2193256" y="973225"/>
            <a:ext cx="6447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5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1828850" y="4832575"/>
            <a:ext cx="4022100" cy="9669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2193249" y="4931275"/>
            <a:ext cx="3657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5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568" y="-232025"/>
            <a:ext cx="7922225" cy="792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201" y="1287204"/>
            <a:ext cx="6275275" cy="6275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51" name="Google Shape;651;p40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53" name="Google Shape;653;p40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14233613" y="632363"/>
            <a:ext cx="3957972" cy="536147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 sz="2800"/>
            </a:lvl1pPr>
            <a:lvl2pPr lvl="1" rtl="0">
              <a:buNone/>
              <a:defRPr sz="2800"/>
            </a:lvl2pPr>
            <a:lvl3pPr lvl="2" rtl="0">
              <a:buNone/>
              <a:defRPr sz="2800"/>
            </a:lvl3pPr>
            <a:lvl4pPr lvl="3" rtl="0">
              <a:buNone/>
              <a:defRPr sz="2800"/>
            </a:lvl4pPr>
            <a:lvl5pPr lvl="4" rtl="0">
              <a:buNone/>
              <a:defRPr sz="2800"/>
            </a:lvl5pPr>
            <a:lvl6pPr lvl="5" rtl="0">
              <a:buNone/>
              <a:defRPr sz="2800"/>
            </a:lvl6pPr>
            <a:lvl7pPr lvl="6" rtl="0">
              <a:buNone/>
              <a:defRPr sz="2800"/>
            </a:lvl7pPr>
            <a:lvl8pPr lvl="7" rtl="0">
              <a:buNone/>
              <a:defRPr sz="2800"/>
            </a:lvl8pPr>
            <a:lvl9pPr lvl="8" rtl="0">
              <a:buNone/>
              <a:defRPr sz="2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80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4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76" name="Google Shape;876;p54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877" name="Google Shape;877;p5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5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5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9" name="Google Shape;889;p54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90" name="Google Shape;890;p54"/>
          <p:cNvCxnSpPr>
            <a:stCxn id="889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54"/>
          <p:cNvCxnSpPr>
            <a:stCxn id="889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2" name="Google Shape;892;p54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5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5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6" name="Google Shape;896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5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898" name="Google Shape;898;p55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99" name="Google Shape;899;p5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00" name="Google Shape;900;p5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2" name="Google Shape;902;p55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4" name="Google Shape;904;p56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905" name="Google Shape;905;p56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56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7" name="Google Shape;907;p56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8" name="Google Shape;908;p56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9" name="Google Shape;909;p56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0" name="Google Shape;910;p56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1" name="Google Shape;911;p56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2" name="Google Shape;912;p56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3" name="Google Shape;913;p56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56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5" name="Google Shape;915;p56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6" name="Google Shape;916;p56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917" name="Google Shape;917;p56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8" name="Google Shape;918;p56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19" name="Google Shape;919;p56"/>
          <p:cNvCxnSpPr>
            <a:stCxn id="918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56"/>
          <p:cNvCxnSpPr>
            <a:stCxn id="918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1" name="Google Shape;921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56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925" name="Google Shape;925;p5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6" name="Google Shape;926;p5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927" name="Google Shape;927;p5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57"/>
          <p:cNvCxnSpPr>
            <a:stCxn id="926" idx="2"/>
            <a:endCxn id="924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9" name="Google Shape;929;p57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7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1" name="Google Shape;931;p57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8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4" name="Google Shape;934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58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36" name="Google Shape;936;p58"/>
          <p:cNvCxnSpPr>
            <a:stCxn id="935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58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38" name="Google Shape;938;p58"/>
          <p:cNvCxnSpPr>
            <a:stCxn id="935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9" name="Google Shape;939;p58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0" name="Google Shape;940;p58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9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43" name="Google Shape;943;p59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44" name="Google Shape;944;p59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5" name="Google Shape;945;p59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46" name="Google Shape;946;p59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59"/>
          <p:cNvCxnSpPr>
            <a:stCxn id="945" idx="2"/>
            <a:endCxn id="943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8" name="Google Shape;94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9" name="Google Shape;949;p59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950" name="Google Shape;950;p59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9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59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59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4" name="Google Shape;954;p59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6" name="Google Shape;956;p6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57" name="Google Shape;957;p6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9" name="Google Shape;959;p60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60" name="Google Shape;960;p60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61" name="Google Shape;961;p60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2" name="Google Shape;962;p60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61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965" name="Google Shape;965;p61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966" name="Google Shape;966;p61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7" name="Google Shape;967;p61"/>
            <p:cNvCxnSpPr>
              <a:stCxn id="965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8" name="Google Shape;968;p61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9" name="Google Shape;969;p61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70" name="Google Shape;970;p61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2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4" name="Google Shape;974;p62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3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7" name="Google Shape;977;p6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78" name="Google Shape;978;p6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0" name="Google Shape;980;p63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1" name="Google Shape;981;p63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63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4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4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6" name="Google Shape;986;p64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87" name="Google Shape;987;p64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988" name="Google Shape;988;p64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9" name="Google Shape;989;p64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90" name="Google Shape;990;p64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991" name="Google Shape;991;p64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4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4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4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64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996" name="Google Shape;996;p64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4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4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0" name="Google Shape;1000;p64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5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5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004" name="Google Shape;1004;p65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5" name="Google Shape;1005;p65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006" name="Google Shape;1006;p65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07" name="Google Shape;1007;p65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1008" name="Google Shape;1008;p65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9" name="Google Shape;1009;p65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010" name="Google Shape;1010;p65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" name="Google Shape;1011;p65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12" name="Google Shape;1012;p65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1013" name="Google Shape;1013;p65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014" name="Google Shape;1014;p65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" name="Google Shape;1015;p65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6" name="Google Shape;1016;p65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7" name="Google Shape;1017;p6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018" name="Google Shape;1018;p6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0" name="Google Shape;1020;p65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1" name="Google Shape;1021;p65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2" name="Google Shape;1022;p65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3" name="Google Shape;1023;p65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Google Shape;871;p5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872" name="Google Shape;872;p5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oogle Shape;1029;p67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1030" name="Google Shape;1030;p67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7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7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7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7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7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7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7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7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7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7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7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7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7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7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7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7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7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7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7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7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7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7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7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7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7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7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7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7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7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7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7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7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7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7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7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7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7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7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7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7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7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7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7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7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7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7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7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7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7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7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1" name="Google Shape;1081;p67"/>
          <p:cNvGrpSpPr/>
          <p:nvPr/>
        </p:nvGrpSpPr>
        <p:grpSpPr>
          <a:xfrm flipH="1">
            <a:off x="10528261" y="3599884"/>
            <a:ext cx="9065836" cy="7119770"/>
            <a:chOff x="8159175" y="2978363"/>
            <a:chExt cx="5304760" cy="4166045"/>
          </a:xfrm>
        </p:grpSpPr>
        <p:sp>
          <p:nvSpPr>
            <p:cNvPr id="1082" name="Google Shape;1082;p67"/>
            <p:cNvSpPr/>
            <p:nvPr/>
          </p:nvSpPr>
          <p:spPr>
            <a:xfrm>
              <a:off x="8907682" y="4570781"/>
              <a:ext cx="195232" cy="40397"/>
            </a:xfrm>
            <a:custGeom>
              <a:rect b="b" l="l" r="r" t="t"/>
              <a:pathLst>
                <a:path extrusionOk="0" h="329" w="1590">
                  <a:moveTo>
                    <a:pt x="1312" y="1"/>
                  </a:moveTo>
                  <a:cubicBezTo>
                    <a:pt x="749" y="1"/>
                    <a:pt x="34" y="144"/>
                    <a:pt x="0" y="150"/>
                  </a:cubicBezTo>
                  <a:lnTo>
                    <a:pt x="37" y="329"/>
                  </a:lnTo>
                  <a:cubicBezTo>
                    <a:pt x="46" y="326"/>
                    <a:pt x="768" y="181"/>
                    <a:pt x="1314" y="181"/>
                  </a:cubicBezTo>
                  <a:cubicBezTo>
                    <a:pt x="1405" y="181"/>
                    <a:pt x="1491" y="185"/>
                    <a:pt x="1568" y="194"/>
                  </a:cubicBezTo>
                  <a:lnTo>
                    <a:pt x="1590" y="15"/>
                  </a:lnTo>
                  <a:cubicBezTo>
                    <a:pt x="1505" y="5"/>
                    <a:pt x="1411" y="1"/>
                    <a:pt x="1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7"/>
            <p:cNvSpPr/>
            <p:nvPr/>
          </p:nvSpPr>
          <p:spPr>
            <a:xfrm>
              <a:off x="8925118" y="4507178"/>
              <a:ext cx="214141" cy="57096"/>
            </a:xfrm>
            <a:custGeom>
              <a:rect b="b" l="l" r="r" t="t"/>
              <a:pathLst>
                <a:path extrusionOk="0" h="465" w="1744">
                  <a:moveTo>
                    <a:pt x="1492" y="1"/>
                  </a:moveTo>
                  <a:cubicBezTo>
                    <a:pt x="843" y="1"/>
                    <a:pt x="49" y="259"/>
                    <a:pt x="0" y="333"/>
                  </a:cubicBezTo>
                  <a:lnTo>
                    <a:pt x="84" y="388"/>
                  </a:lnTo>
                  <a:lnTo>
                    <a:pt x="121" y="464"/>
                  </a:lnTo>
                  <a:cubicBezTo>
                    <a:pt x="205" y="425"/>
                    <a:pt x="900" y="181"/>
                    <a:pt x="1493" y="181"/>
                  </a:cubicBezTo>
                  <a:cubicBezTo>
                    <a:pt x="1570" y="181"/>
                    <a:pt x="1646" y="185"/>
                    <a:pt x="1718" y="194"/>
                  </a:cubicBezTo>
                  <a:lnTo>
                    <a:pt x="1743" y="16"/>
                  </a:lnTo>
                  <a:cubicBezTo>
                    <a:pt x="1663" y="5"/>
                    <a:pt x="1579" y="1"/>
                    <a:pt x="14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7"/>
            <p:cNvSpPr/>
            <p:nvPr/>
          </p:nvSpPr>
          <p:spPr>
            <a:xfrm>
              <a:off x="8959621" y="4460028"/>
              <a:ext cx="192531" cy="59429"/>
            </a:xfrm>
            <a:custGeom>
              <a:rect b="b" l="l" r="r" t="t"/>
              <a:pathLst>
                <a:path extrusionOk="0" h="484" w="1568">
                  <a:moveTo>
                    <a:pt x="1274" y="0"/>
                  </a:moveTo>
                  <a:cubicBezTo>
                    <a:pt x="646" y="0"/>
                    <a:pt x="48" y="302"/>
                    <a:pt x="0" y="352"/>
                  </a:cubicBezTo>
                  <a:lnTo>
                    <a:pt x="135" y="476"/>
                  </a:lnTo>
                  <a:cubicBezTo>
                    <a:pt x="131" y="480"/>
                    <a:pt x="131" y="480"/>
                    <a:pt x="128" y="483"/>
                  </a:cubicBezTo>
                  <a:cubicBezTo>
                    <a:pt x="169" y="452"/>
                    <a:pt x="717" y="182"/>
                    <a:pt x="1280" y="182"/>
                  </a:cubicBezTo>
                  <a:cubicBezTo>
                    <a:pt x="1367" y="182"/>
                    <a:pt x="1453" y="188"/>
                    <a:pt x="1539" y="203"/>
                  </a:cubicBezTo>
                  <a:lnTo>
                    <a:pt x="1568" y="24"/>
                  </a:lnTo>
                  <a:cubicBezTo>
                    <a:pt x="1471" y="7"/>
                    <a:pt x="1372" y="0"/>
                    <a:pt x="12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7"/>
            <p:cNvSpPr/>
            <p:nvPr/>
          </p:nvSpPr>
          <p:spPr>
            <a:xfrm>
              <a:off x="8159175" y="4609705"/>
              <a:ext cx="3111312" cy="2534702"/>
            </a:xfrm>
            <a:custGeom>
              <a:rect b="b" l="l" r="r" t="t"/>
              <a:pathLst>
                <a:path extrusionOk="0" h="20643" w="25339">
                  <a:moveTo>
                    <a:pt x="20800" y="183"/>
                  </a:moveTo>
                  <a:cubicBezTo>
                    <a:pt x="23202" y="183"/>
                    <a:pt x="25156" y="2137"/>
                    <a:pt x="25156" y="4536"/>
                  </a:cubicBezTo>
                  <a:lnTo>
                    <a:pt x="25156" y="20461"/>
                  </a:lnTo>
                  <a:lnTo>
                    <a:pt x="183" y="20461"/>
                  </a:lnTo>
                  <a:lnTo>
                    <a:pt x="183" y="4536"/>
                  </a:lnTo>
                  <a:cubicBezTo>
                    <a:pt x="183" y="2137"/>
                    <a:pt x="2137" y="183"/>
                    <a:pt x="4540" y="183"/>
                  </a:cubicBezTo>
                  <a:close/>
                  <a:moveTo>
                    <a:pt x="4540" y="1"/>
                  </a:moveTo>
                  <a:cubicBezTo>
                    <a:pt x="2035" y="1"/>
                    <a:pt x="1" y="2035"/>
                    <a:pt x="1" y="4536"/>
                  </a:cubicBezTo>
                  <a:lnTo>
                    <a:pt x="1" y="20643"/>
                  </a:lnTo>
                  <a:lnTo>
                    <a:pt x="25339" y="20643"/>
                  </a:lnTo>
                  <a:lnTo>
                    <a:pt x="25339" y="4536"/>
                  </a:lnTo>
                  <a:cubicBezTo>
                    <a:pt x="25339" y="2035"/>
                    <a:pt x="23301" y="1"/>
                    <a:pt x="20800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7"/>
            <p:cNvSpPr/>
            <p:nvPr/>
          </p:nvSpPr>
          <p:spPr>
            <a:xfrm>
              <a:off x="11350031" y="4414106"/>
              <a:ext cx="454682" cy="413303"/>
            </a:xfrm>
            <a:custGeom>
              <a:rect b="b" l="l" r="r" t="t"/>
              <a:pathLst>
                <a:path extrusionOk="0" h="3366" w="3703">
                  <a:moveTo>
                    <a:pt x="3490" y="1"/>
                  </a:moveTo>
                  <a:cubicBezTo>
                    <a:pt x="3463" y="1"/>
                    <a:pt x="3436" y="7"/>
                    <a:pt x="3409" y="19"/>
                  </a:cubicBezTo>
                  <a:lnTo>
                    <a:pt x="117" y="1696"/>
                  </a:lnTo>
                  <a:cubicBezTo>
                    <a:pt x="44" y="1732"/>
                    <a:pt x="0" y="1809"/>
                    <a:pt x="11" y="1886"/>
                  </a:cubicBezTo>
                  <a:cubicBezTo>
                    <a:pt x="62" y="2400"/>
                    <a:pt x="576" y="3366"/>
                    <a:pt x="576" y="3366"/>
                  </a:cubicBezTo>
                  <a:cubicBezTo>
                    <a:pt x="576" y="3366"/>
                    <a:pt x="3373" y="1762"/>
                    <a:pt x="3675" y="227"/>
                  </a:cubicBezTo>
                  <a:cubicBezTo>
                    <a:pt x="3702" y="105"/>
                    <a:pt x="3604" y="1"/>
                    <a:pt x="349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7"/>
            <p:cNvSpPr/>
            <p:nvPr/>
          </p:nvSpPr>
          <p:spPr>
            <a:xfrm>
              <a:off x="11598919" y="4422701"/>
              <a:ext cx="204687" cy="175095"/>
            </a:xfrm>
            <a:custGeom>
              <a:rect b="b" l="l" r="r" t="t"/>
              <a:pathLst>
                <a:path extrusionOk="0" h="1426" w="1667">
                  <a:moveTo>
                    <a:pt x="1503" y="0"/>
                  </a:moveTo>
                  <a:cubicBezTo>
                    <a:pt x="1120" y="540"/>
                    <a:pt x="602" y="970"/>
                    <a:pt x="1" y="1247"/>
                  </a:cubicBezTo>
                  <a:lnTo>
                    <a:pt x="84" y="1425"/>
                  </a:lnTo>
                  <a:cubicBezTo>
                    <a:pt x="715" y="1137"/>
                    <a:pt x="1262" y="682"/>
                    <a:pt x="1667" y="113"/>
                  </a:cubicBezTo>
                  <a:lnTo>
                    <a:pt x="1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7"/>
            <p:cNvSpPr/>
            <p:nvPr/>
          </p:nvSpPr>
          <p:spPr>
            <a:xfrm>
              <a:off x="11747982" y="6234294"/>
              <a:ext cx="1185022" cy="89892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7"/>
            <p:cNvSpPr/>
            <p:nvPr/>
          </p:nvSpPr>
          <p:spPr>
            <a:xfrm>
              <a:off x="11381832" y="4633402"/>
              <a:ext cx="847970" cy="992614"/>
            </a:xfrm>
            <a:custGeom>
              <a:rect b="b" l="l" r="r" t="t"/>
              <a:pathLst>
                <a:path extrusionOk="0" h="8084" w="6906">
                  <a:moveTo>
                    <a:pt x="1036" y="1"/>
                  </a:moveTo>
                  <a:cubicBezTo>
                    <a:pt x="905" y="1"/>
                    <a:pt x="772" y="29"/>
                    <a:pt x="646" y="89"/>
                  </a:cubicBezTo>
                  <a:cubicBezTo>
                    <a:pt x="194" y="304"/>
                    <a:pt x="0" y="851"/>
                    <a:pt x="215" y="1303"/>
                  </a:cubicBezTo>
                  <a:lnTo>
                    <a:pt x="1652" y="4321"/>
                  </a:lnTo>
                  <a:cubicBezTo>
                    <a:pt x="1699" y="4423"/>
                    <a:pt x="1765" y="4515"/>
                    <a:pt x="1845" y="4591"/>
                  </a:cubicBezTo>
                  <a:lnTo>
                    <a:pt x="5272" y="7832"/>
                  </a:lnTo>
                  <a:cubicBezTo>
                    <a:pt x="5447" y="8000"/>
                    <a:pt x="5673" y="8084"/>
                    <a:pt x="5899" y="8084"/>
                  </a:cubicBezTo>
                  <a:cubicBezTo>
                    <a:pt x="6140" y="8084"/>
                    <a:pt x="6380" y="7989"/>
                    <a:pt x="6559" y="7799"/>
                  </a:cubicBezTo>
                  <a:cubicBezTo>
                    <a:pt x="6905" y="7431"/>
                    <a:pt x="6891" y="6855"/>
                    <a:pt x="6526" y="6509"/>
                  </a:cubicBezTo>
                  <a:lnTo>
                    <a:pt x="3223" y="3384"/>
                  </a:lnTo>
                  <a:lnTo>
                    <a:pt x="1863" y="522"/>
                  </a:lnTo>
                  <a:cubicBezTo>
                    <a:pt x="1705" y="193"/>
                    <a:pt x="1377" y="1"/>
                    <a:pt x="103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7"/>
            <p:cNvSpPr/>
            <p:nvPr/>
          </p:nvSpPr>
          <p:spPr>
            <a:xfrm>
              <a:off x="12194186" y="5128102"/>
              <a:ext cx="390090" cy="473604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7"/>
            <p:cNvSpPr/>
            <p:nvPr/>
          </p:nvSpPr>
          <p:spPr>
            <a:xfrm>
              <a:off x="11912762" y="5323340"/>
              <a:ext cx="380150" cy="367994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7"/>
            <p:cNvSpPr/>
            <p:nvPr/>
          </p:nvSpPr>
          <p:spPr>
            <a:xfrm>
              <a:off x="12076559" y="5480875"/>
              <a:ext cx="533757" cy="49471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7"/>
            <p:cNvSpPr/>
            <p:nvPr/>
          </p:nvSpPr>
          <p:spPr>
            <a:xfrm>
              <a:off x="12209537" y="5170594"/>
              <a:ext cx="310775" cy="288182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7"/>
            <p:cNvSpPr/>
            <p:nvPr/>
          </p:nvSpPr>
          <p:spPr>
            <a:xfrm>
              <a:off x="12341150" y="5138425"/>
              <a:ext cx="221263" cy="203950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7"/>
            <p:cNvSpPr/>
            <p:nvPr/>
          </p:nvSpPr>
          <p:spPr>
            <a:xfrm>
              <a:off x="12224954" y="5148688"/>
              <a:ext cx="180134" cy="11225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7"/>
            <p:cNvSpPr/>
            <p:nvPr/>
          </p:nvSpPr>
          <p:spPr>
            <a:xfrm>
              <a:off x="12344725" y="5286259"/>
              <a:ext cx="55623" cy="33644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7"/>
            <p:cNvSpPr/>
            <p:nvPr/>
          </p:nvSpPr>
          <p:spPr>
            <a:xfrm>
              <a:off x="12237655" y="5265139"/>
              <a:ext cx="50711" cy="2296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7"/>
            <p:cNvSpPr/>
            <p:nvPr/>
          </p:nvSpPr>
          <p:spPr>
            <a:xfrm>
              <a:off x="12265896" y="5327883"/>
              <a:ext cx="69129" cy="35363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7"/>
            <p:cNvSpPr/>
            <p:nvPr/>
          </p:nvSpPr>
          <p:spPr>
            <a:xfrm>
              <a:off x="12457934" y="5310570"/>
              <a:ext cx="72690" cy="65814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7"/>
            <p:cNvSpPr/>
            <p:nvPr/>
          </p:nvSpPr>
          <p:spPr>
            <a:xfrm>
              <a:off x="11999081" y="5726203"/>
              <a:ext cx="512761" cy="41772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7"/>
            <p:cNvSpPr/>
            <p:nvPr/>
          </p:nvSpPr>
          <p:spPr>
            <a:xfrm>
              <a:off x="12016516" y="5748918"/>
              <a:ext cx="1447419" cy="86012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7"/>
            <p:cNvSpPr/>
            <p:nvPr/>
          </p:nvSpPr>
          <p:spPr>
            <a:xfrm>
              <a:off x="11759156" y="6142081"/>
              <a:ext cx="712413" cy="538178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7"/>
            <p:cNvSpPr/>
            <p:nvPr/>
          </p:nvSpPr>
          <p:spPr>
            <a:xfrm>
              <a:off x="11747123" y="6130784"/>
              <a:ext cx="736971" cy="560648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7"/>
            <p:cNvSpPr/>
            <p:nvPr/>
          </p:nvSpPr>
          <p:spPr>
            <a:xfrm>
              <a:off x="11206739" y="5749164"/>
              <a:ext cx="1294303" cy="807942"/>
            </a:xfrm>
            <a:custGeom>
              <a:rect b="b" l="l" r="r" t="t"/>
              <a:pathLst>
                <a:path extrusionOk="0" h="6580" w="10541">
                  <a:moveTo>
                    <a:pt x="1975" y="0"/>
                  </a:moveTo>
                  <a:cubicBezTo>
                    <a:pt x="1326" y="0"/>
                    <a:pt x="704" y="366"/>
                    <a:pt x="409" y="991"/>
                  </a:cubicBezTo>
                  <a:cubicBezTo>
                    <a:pt x="1" y="1855"/>
                    <a:pt x="373" y="2890"/>
                    <a:pt x="1237" y="3299"/>
                  </a:cubicBezTo>
                  <a:lnTo>
                    <a:pt x="7828" y="6412"/>
                  </a:lnTo>
                  <a:cubicBezTo>
                    <a:pt x="8065" y="6525"/>
                    <a:pt x="8317" y="6580"/>
                    <a:pt x="8565" y="6580"/>
                  </a:cubicBezTo>
                  <a:cubicBezTo>
                    <a:pt x="9214" y="6580"/>
                    <a:pt x="9837" y="6212"/>
                    <a:pt x="10132" y="5584"/>
                  </a:cubicBezTo>
                  <a:cubicBezTo>
                    <a:pt x="10541" y="4720"/>
                    <a:pt x="10172" y="3689"/>
                    <a:pt x="9305" y="3280"/>
                  </a:cubicBezTo>
                  <a:lnTo>
                    <a:pt x="2717" y="167"/>
                  </a:lnTo>
                  <a:cubicBezTo>
                    <a:pt x="2477" y="54"/>
                    <a:pt x="2224" y="0"/>
                    <a:pt x="1975" y="0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7"/>
            <p:cNvSpPr/>
            <p:nvPr/>
          </p:nvSpPr>
          <p:spPr>
            <a:xfrm>
              <a:off x="12043898" y="6081670"/>
              <a:ext cx="783016" cy="592695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7"/>
            <p:cNvSpPr/>
            <p:nvPr/>
          </p:nvSpPr>
          <p:spPr>
            <a:xfrm>
              <a:off x="12032233" y="6070496"/>
              <a:ext cx="806837" cy="615165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7"/>
            <p:cNvSpPr/>
            <p:nvPr/>
          </p:nvSpPr>
          <p:spPr>
            <a:xfrm>
              <a:off x="12520187" y="5490575"/>
              <a:ext cx="651879" cy="740654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7"/>
            <p:cNvSpPr/>
            <p:nvPr/>
          </p:nvSpPr>
          <p:spPr>
            <a:xfrm>
              <a:off x="12504470" y="5474613"/>
              <a:ext cx="390096" cy="351909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7"/>
            <p:cNvSpPr/>
            <p:nvPr/>
          </p:nvSpPr>
          <p:spPr>
            <a:xfrm>
              <a:off x="12285419" y="6007630"/>
              <a:ext cx="414408" cy="35915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7"/>
            <p:cNvSpPr/>
            <p:nvPr/>
          </p:nvSpPr>
          <p:spPr>
            <a:xfrm>
              <a:off x="12294137" y="6191318"/>
              <a:ext cx="171534" cy="110263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7"/>
            <p:cNvSpPr/>
            <p:nvPr/>
          </p:nvSpPr>
          <p:spPr>
            <a:xfrm>
              <a:off x="12292786" y="6120962"/>
              <a:ext cx="179147" cy="128190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7"/>
            <p:cNvSpPr/>
            <p:nvPr/>
          </p:nvSpPr>
          <p:spPr>
            <a:xfrm>
              <a:off x="12305311" y="6075285"/>
              <a:ext cx="159010" cy="120209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7"/>
            <p:cNvSpPr/>
            <p:nvPr/>
          </p:nvSpPr>
          <p:spPr>
            <a:xfrm>
              <a:off x="9916251" y="2978363"/>
              <a:ext cx="451735" cy="419933"/>
            </a:xfrm>
            <a:custGeom>
              <a:rect b="b" l="l" r="r" t="t"/>
              <a:pathLst>
                <a:path extrusionOk="0" h="3420" w="3679">
                  <a:moveTo>
                    <a:pt x="1838" y="1"/>
                  </a:moveTo>
                  <a:cubicBezTo>
                    <a:pt x="1015" y="1"/>
                    <a:pt x="291" y="595"/>
                    <a:pt x="153" y="1431"/>
                  </a:cubicBezTo>
                  <a:cubicBezTo>
                    <a:pt x="0" y="2361"/>
                    <a:pt x="627" y="3239"/>
                    <a:pt x="1561" y="3396"/>
                  </a:cubicBezTo>
                  <a:cubicBezTo>
                    <a:pt x="1654" y="3412"/>
                    <a:pt x="1747" y="3419"/>
                    <a:pt x="1839" y="3419"/>
                  </a:cubicBezTo>
                  <a:cubicBezTo>
                    <a:pt x="2660" y="3419"/>
                    <a:pt x="3385" y="2825"/>
                    <a:pt x="3526" y="1989"/>
                  </a:cubicBezTo>
                  <a:cubicBezTo>
                    <a:pt x="3679" y="1059"/>
                    <a:pt x="3048" y="177"/>
                    <a:pt x="2118" y="24"/>
                  </a:cubicBezTo>
                  <a:cubicBezTo>
                    <a:pt x="2024" y="8"/>
                    <a:pt x="1931" y="1"/>
                    <a:pt x="18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7"/>
            <p:cNvSpPr/>
            <p:nvPr/>
          </p:nvSpPr>
          <p:spPr>
            <a:xfrm>
              <a:off x="10439077" y="3458949"/>
              <a:ext cx="1045781" cy="1071689"/>
            </a:xfrm>
            <a:custGeom>
              <a:rect b="b" l="l" r="r" t="t"/>
              <a:pathLst>
                <a:path extrusionOk="0" h="8728" w="8517">
                  <a:moveTo>
                    <a:pt x="1134" y="1"/>
                  </a:moveTo>
                  <a:cubicBezTo>
                    <a:pt x="925" y="1"/>
                    <a:pt x="715" y="66"/>
                    <a:pt x="536" y="200"/>
                  </a:cubicBezTo>
                  <a:cubicBezTo>
                    <a:pt x="92" y="532"/>
                    <a:pt x="0" y="1159"/>
                    <a:pt x="328" y="1604"/>
                  </a:cubicBezTo>
                  <a:lnTo>
                    <a:pt x="3344" y="5647"/>
                  </a:lnTo>
                  <a:cubicBezTo>
                    <a:pt x="3391" y="5709"/>
                    <a:pt x="3446" y="5767"/>
                    <a:pt x="3508" y="5818"/>
                  </a:cubicBezTo>
                  <a:lnTo>
                    <a:pt x="6752" y="8498"/>
                  </a:lnTo>
                  <a:cubicBezTo>
                    <a:pt x="6938" y="8651"/>
                    <a:pt x="7164" y="8728"/>
                    <a:pt x="7390" y="8728"/>
                  </a:cubicBezTo>
                  <a:cubicBezTo>
                    <a:pt x="7678" y="8728"/>
                    <a:pt x="7966" y="8604"/>
                    <a:pt x="8163" y="8363"/>
                  </a:cubicBezTo>
                  <a:cubicBezTo>
                    <a:pt x="8517" y="7937"/>
                    <a:pt x="8455" y="7306"/>
                    <a:pt x="8028" y="6952"/>
                  </a:cubicBezTo>
                  <a:lnTo>
                    <a:pt x="4878" y="4349"/>
                  </a:lnTo>
                  <a:lnTo>
                    <a:pt x="1936" y="404"/>
                  </a:lnTo>
                  <a:cubicBezTo>
                    <a:pt x="1741" y="140"/>
                    <a:pt x="1439" y="1"/>
                    <a:pt x="113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7"/>
            <p:cNvSpPr/>
            <p:nvPr/>
          </p:nvSpPr>
          <p:spPr>
            <a:xfrm>
              <a:off x="9821706" y="4252150"/>
              <a:ext cx="1583099" cy="1697046"/>
            </a:xfrm>
            <a:custGeom>
              <a:rect b="b" l="l" r="r" t="t"/>
              <a:pathLst>
                <a:path extrusionOk="0" h="13821" w="12893">
                  <a:moveTo>
                    <a:pt x="6180" y="3733"/>
                  </a:moveTo>
                  <a:lnTo>
                    <a:pt x="8809" y="5140"/>
                  </a:lnTo>
                  <a:lnTo>
                    <a:pt x="6749" y="8885"/>
                  </a:lnTo>
                  <a:cubicBezTo>
                    <a:pt x="6687" y="8990"/>
                    <a:pt x="6640" y="9103"/>
                    <a:pt x="6607" y="9216"/>
                  </a:cubicBezTo>
                  <a:lnTo>
                    <a:pt x="6264" y="4160"/>
                  </a:lnTo>
                  <a:cubicBezTo>
                    <a:pt x="6257" y="4014"/>
                    <a:pt x="6228" y="3872"/>
                    <a:pt x="6180" y="3733"/>
                  </a:cubicBezTo>
                  <a:close/>
                  <a:moveTo>
                    <a:pt x="1838" y="0"/>
                  </a:moveTo>
                  <a:cubicBezTo>
                    <a:pt x="1142" y="0"/>
                    <a:pt x="515" y="427"/>
                    <a:pt x="260" y="1072"/>
                  </a:cubicBezTo>
                  <a:cubicBezTo>
                    <a:pt x="1" y="1721"/>
                    <a:pt x="165" y="2461"/>
                    <a:pt x="672" y="2938"/>
                  </a:cubicBezTo>
                  <a:lnTo>
                    <a:pt x="2917" y="5053"/>
                  </a:lnTo>
                  <a:lnTo>
                    <a:pt x="3402" y="12235"/>
                  </a:lnTo>
                  <a:cubicBezTo>
                    <a:pt x="3461" y="13132"/>
                    <a:pt x="4208" y="13821"/>
                    <a:pt x="5098" y="13821"/>
                  </a:cubicBezTo>
                  <a:cubicBezTo>
                    <a:pt x="5134" y="13821"/>
                    <a:pt x="5174" y="13821"/>
                    <a:pt x="5214" y="13817"/>
                  </a:cubicBezTo>
                  <a:cubicBezTo>
                    <a:pt x="6151" y="13755"/>
                    <a:pt x="6859" y="12942"/>
                    <a:pt x="6797" y="12005"/>
                  </a:cubicBezTo>
                  <a:lnTo>
                    <a:pt x="6687" y="10405"/>
                  </a:lnTo>
                  <a:lnTo>
                    <a:pt x="6687" y="10405"/>
                  </a:lnTo>
                  <a:cubicBezTo>
                    <a:pt x="6833" y="10729"/>
                    <a:pt x="7081" y="11010"/>
                    <a:pt x="7416" y="11196"/>
                  </a:cubicBezTo>
                  <a:cubicBezTo>
                    <a:pt x="7677" y="11339"/>
                    <a:pt x="7958" y="11407"/>
                    <a:pt x="8236" y="11407"/>
                  </a:cubicBezTo>
                  <a:cubicBezTo>
                    <a:pt x="8836" y="11407"/>
                    <a:pt x="9419" y="11089"/>
                    <a:pt x="9728" y="10525"/>
                  </a:cubicBezTo>
                  <a:lnTo>
                    <a:pt x="12622" y="5272"/>
                  </a:lnTo>
                  <a:cubicBezTo>
                    <a:pt x="12841" y="4874"/>
                    <a:pt x="12892" y="4404"/>
                    <a:pt x="12761" y="3967"/>
                  </a:cubicBezTo>
                  <a:cubicBezTo>
                    <a:pt x="12633" y="3529"/>
                    <a:pt x="12334" y="3164"/>
                    <a:pt x="11933" y="2949"/>
                  </a:cubicBezTo>
                  <a:lnTo>
                    <a:pt x="6789" y="201"/>
                  </a:lnTo>
                  <a:cubicBezTo>
                    <a:pt x="6541" y="69"/>
                    <a:pt x="6268" y="0"/>
                    <a:pt x="598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7"/>
            <p:cNvSpPr/>
            <p:nvPr/>
          </p:nvSpPr>
          <p:spPr>
            <a:xfrm>
              <a:off x="10249740" y="5641971"/>
              <a:ext cx="622287" cy="437492"/>
            </a:xfrm>
            <a:custGeom>
              <a:rect b="b" l="l" r="r" t="t"/>
              <a:pathLst>
                <a:path extrusionOk="0" h="3563" w="5068">
                  <a:moveTo>
                    <a:pt x="0" y="1"/>
                  </a:moveTo>
                  <a:lnTo>
                    <a:pt x="0" y="3563"/>
                  </a:lnTo>
                  <a:lnTo>
                    <a:pt x="5068" y="3563"/>
                  </a:lnTo>
                  <a:cubicBezTo>
                    <a:pt x="5068" y="3563"/>
                    <a:pt x="3278" y="2039"/>
                    <a:pt x="3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7"/>
            <p:cNvSpPr/>
            <p:nvPr/>
          </p:nvSpPr>
          <p:spPr>
            <a:xfrm>
              <a:off x="10236724" y="5629079"/>
              <a:ext cx="670297" cy="463400"/>
            </a:xfrm>
            <a:custGeom>
              <a:rect b="b" l="l" r="r" t="t"/>
              <a:pathLst>
                <a:path extrusionOk="0" h="3774" w="5459">
                  <a:moveTo>
                    <a:pt x="3249" y="208"/>
                  </a:moveTo>
                  <a:cubicBezTo>
                    <a:pt x="3318" y="1834"/>
                    <a:pt x="4445" y="3106"/>
                    <a:pt x="4911" y="3562"/>
                  </a:cubicBezTo>
                  <a:lnTo>
                    <a:pt x="212" y="3562"/>
                  </a:lnTo>
                  <a:lnTo>
                    <a:pt x="212" y="208"/>
                  </a:lnTo>
                  <a:close/>
                  <a:moveTo>
                    <a:pt x="0" y="0"/>
                  </a:moveTo>
                  <a:lnTo>
                    <a:pt x="0" y="3774"/>
                  </a:lnTo>
                  <a:lnTo>
                    <a:pt x="5458" y="3774"/>
                  </a:lnTo>
                  <a:lnTo>
                    <a:pt x="5243" y="3588"/>
                  </a:lnTo>
                  <a:cubicBezTo>
                    <a:pt x="5225" y="3573"/>
                    <a:pt x="3486" y="2071"/>
                    <a:pt x="3453" y="102"/>
                  </a:cubicBezTo>
                  <a:lnTo>
                    <a:pt x="345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7"/>
            <p:cNvSpPr/>
            <p:nvPr/>
          </p:nvSpPr>
          <p:spPr>
            <a:xfrm>
              <a:off x="10530430" y="5154140"/>
              <a:ext cx="568629" cy="696573"/>
            </a:xfrm>
            <a:custGeom>
              <a:rect b="b" l="l" r="r" t="t"/>
              <a:pathLst>
                <a:path extrusionOk="0" h="5673" w="4631">
                  <a:moveTo>
                    <a:pt x="1976" y="0"/>
                  </a:moveTo>
                  <a:lnTo>
                    <a:pt x="0" y="2742"/>
                  </a:lnTo>
                  <a:lnTo>
                    <a:pt x="4058" y="5673"/>
                  </a:lnTo>
                  <a:cubicBezTo>
                    <a:pt x="4058" y="5673"/>
                    <a:pt x="3522" y="3507"/>
                    <a:pt x="4630" y="1918"/>
                  </a:cubicBezTo>
                  <a:lnTo>
                    <a:pt x="1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7"/>
            <p:cNvSpPr/>
            <p:nvPr/>
          </p:nvSpPr>
          <p:spPr>
            <a:xfrm>
              <a:off x="10514713" y="5138424"/>
              <a:ext cx="599571" cy="739181"/>
            </a:xfrm>
            <a:custGeom>
              <a:rect b="b" l="l" r="r" t="t"/>
              <a:pathLst>
                <a:path extrusionOk="0" h="6020" w="4883">
                  <a:moveTo>
                    <a:pt x="2122" y="256"/>
                  </a:moveTo>
                  <a:lnTo>
                    <a:pt x="4631" y="2068"/>
                  </a:lnTo>
                  <a:cubicBezTo>
                    <a:pt x="3774" y="3373"/>
                    <a:pt x="3949" y="4991"/>
                    <a:pt x="4051" y="5589"/>
                  </a:cubicBezTo>
                  <a:lnTo>
                    <a:pt x="256" y="2851"/>
                  </a:lnTo>
                  <a:lnTo>
                    <a:pt x="2122" y="256"/>
                  </a:lnTo>
                  <a:close/>
                  <a:moveTo>
                    <a:pt x="2082" y="1"/>
                  </a:moveTo>
                  <a:lnTo>
                    <a:pt x="1" y="2892"/>
                  </a:lnTo>
                  <a:lnTo>
                    <a:pt x="4335" y="6020"/>
                  </a:lnTo>
                  <a:lnTo>
                    <a:pt x="4277" y="5779"/>
                  </a:lnTo>
                  <a:cubicBezTo>
                    <a:pt x="4270" y="5757"/>
                    <a:pt x="3763" y="3635"/>
                    <a:pt x="4831" y="2100"/>
                  </a:cubicBezTo>
                  <a:lnTo>
                    <a:pt x="4882" y="2024"/>
                  </a:lnTo>
                  <a:lnTo>
                    <a:pt x="2082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7"/>
            <p:cNvSpPr/>
            <p:nvPr/>
          </p:nvSpPr>
          <p:spPr>
            <a:xfrm>
              <a:off x="10045546" y="3143142"/>
              <a:ext cx="305004" cy="287937"/>
            </a:xfrm>
            <a:custGeom>
              <a:rect b="b" l="l" r="r" t="t"/>
              <a:pathLst>
                <a:path extrusionOk="0" h="2345" w="2484">
                  <a:moveTo>
                    <a:pt x="1218" y="0"/>
                  </a:moveTo>
                  <a:cubicBezTo>
                    <a:pt x="656" y="0"/>
                    <a:pt x="158" y="406"/>
                    <a:pt x="63" y="982"/>
                  </a:cubicBezTo>
                  <a:cubicBezTo>
                    <a:pt x="1" y="1365"/>
                    <a:pt x="132" y="1737"/>
                    <a:pt x="384" y="1996"/>
                  </a:cubicBezTo>
                  <a:cubicBezTo>
                    <a:pt x="551" y="2167"/>
                    <a:pt x="774" y="2287"/>
                    <a:pt x="1029" y="2328"/>
                  </a:cubicBezTo>
                  <a:cubicBezTo>
                    <a:pt x="1094" y="2339"/>
                    <a:pt x="1159" y="2344"/>
                    <a:pt x="1224" y="2344"/>
                  </a:cubicBezTo>
                  <a:cubicBezTo>
                    <a:pt x="1407" y="2344"/>
                    <a:pt x="1583" y="2300"/>
                    <a:pt x="1740" y="2222"/>
                  </a:cubicBezTo>
                  <a:cubicBezTo>
                    <a:pt x="2068" y="2061"/>
                    <a:pt x="2312" y="1752"/>
                    <a:pt x="2378" y="1365"/>
                  </a:cubicBezTo>
                  <a:cubicBezTo>
                    <a:pt x="2484" y="723"/>
                    <a:pt x="2050" y="122"/>
                    <a:pt x="1412" y="16"/>
                  </a:cubicBezTo>
                  <a:cubicBezTo>
                    <a:pt x="1347" y="5"/>
                    <a:pt x="1282" y="0"/>
                    <a:pt x="1218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7"/>
            <p:cNvSpPr/>
            <p:nvPr/>
          </p:nvSpPr>
          <p:spPr>
            <a:xfrm>
              <a:off x="10144512" y="3307676"/>
              <a:ext cx="180129" cy="167851"/>
            </a:xfrm>
            <a:custGeom>
              <a:rect b="b" l="l" r="r" t="t"/>
              <a:pathLst>
                <a:path extrusionOk="0" h="1367" w="1467">
                  <a:moveTo>
                    <a:pt x="770" y="0"/>
                  </a:moveTo>
                  <a:cubicBezTo>
                    <a:pt x="421" y="0"/>
                    <a:pt x="93" y="351"/>
                    <a:pt x="15" y="831"/>
                  </a:cubicBezTo>
                  <a:cubicBezTo>
                    <a:pt x="8" y="867"/>
                    <a:pt x="4" y="904"/>
                    <a:pt x="0" y="936"/>
                  </a:cubicBezTo>
                  <a:cubicBezTo>
                    <a:pt x="161" y="1163"/>
                    <a:pt x="380" y="1312"/>
                    <a:pt x="631" y="1356"/>
                  </a:cubicBezTo>
                  <a:cubicBezTo>
                    <a:pt x="678" y="1363"/>
                    <a:pt x="725" y="1367"/>
                    <a:pt x="772" y="1367"/>
                  </a:cubicBezTo>
                  <a:cubicBezTo>
                    <a:pt x="976" y="1367"/>
                    <a:pt x="1176" y="1297"/>
                    <a:pt x="1357" y="1170"/>
                  </a:cubicBezTo>
                  <a:cubicBezTo>
                    <a:pt x="1368" y="1133"/>
                    <a:pt x="1375" y="1093"/>
                    <a:pt x="1382" y="1057"/>
                  </a:cubicBezTo>
                  <a:cubicBezTo>
                    <a:pt x="1466" y="539"/>
                    <a:pt x="1229" y="69"/>
                    <a:pt x="854" y="7"/>
                  </a:cubicBezTo>
                  <a:cubicBezTo>
                    <a:pt x="826" y="2"/>
                    <a:pt x="798" y="0"/>
                    <a:pt x="7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7"/>
            <p:cNvSpPr/>
            <p:nvPr/>
          </p:nvSpPr>
          <p:spPr>
            <a:xfrm>
              <a:off x="10178524" y="3242476"/>
              <a:ext cx="47150" cy="26768"/>
            </a:xfrm>
            <a:custGeom>
              <a:rect b="b" l="l" r="r" t="t"/>
              <a:pathLst>
                <a:path extrusionOk="0" h="218" w="384">
                  <a:moveTo>
                    <a:pt x="100" y="1"/>
                  </a:moveTo>
                  <a:cubicBezTo>
                    <a:pt x="58" y="1"/>
                    <a:pt x="18" y="32"/>
                    <a:pt x="11" y="78"/>
                  </a:cubicBezTo>
                  <a:cubicBezTo>
                    <a:pt x="1" y="130"/>
                    <a:pt x="33" y="173"/>
                    <a:pt x="84" y="184"/>
                  </a:cubicBezTo>
                  <a:lnTo>
                    <a:pt x="270" y="213"/>
                  </a:lnTo>
                  <a:cubicBezTo>
                    <a:pt x="278" y="213"/>
                    <a:pt x="281" y="217"/>
                    <a:pt x="289" y="217"/>
                  </a:cubicBezTo>
                  <a:cubicBezTo>
                    <a:pt x="332" y="217"/>
                    <a:pt x="369" y="184"/>
                    <a:pt x="376" y="140"/>
                  </a:cubicBezTo>
                  <a:cubicBezTo>
                    <a:pt x="383" y="89"/>
                    <a:pt x="351" y="42"/>
                    <a:pt x="303" y="35"/>
                  </a:cubicBezTo>
                  <a:lnTo>
                    <a:pt x="114" y="2"/>
                  </a:lnTo>
                  <a:cubicBezTo>
                    <a:pt x="109" y="1"/>
                    <a:pt x="105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7"/>
            <p:cNvSpPr/>
            <p:nvPr/>
          </p:nvSpPr>
          <p:spPr>
            <a:xfrm>
              <a:off x="10286453" y="3260403"/>
              <a:ext cx="48378" cy="26645"/>
            </a:xfrm>
            <a:custGeom>
              <a:rect b="b" l="l" r="r" t="t"/>
              <a:pathLst>
                <a:path extrusionOk="0" h="217" w="394">
                  <a:moveTo>
                    <a:pt x="100" y="1"/>
                  </a:moveTo>
                  <a:cubicBezTo>
                    <a:pt x="57" y="1"/>
                    <a:pt x="18" y="32"/>
                    <a:pt x="11" y="78"/>
                  </a:cubicBezTo>
                  <a:cubicBezTo>
                    <a:pt x="0" y="129"/>
                    <a:pt x="37" y="173"/>
                    <a:pt x="84" y="184"/>
                  </a:cubicBezTo>
                  <a:lnTo>
                    <a:pt x="281" y="217"/>
                  </a:lnTo>
                  <a:lnTo>
                    <a:pt x="295" y="217"/>
                  </a:lnTo>
                  <a:cubicBezTo>
                    <a:pt x="339" y="217"/>
                    <a:pt x="379" y="184"/>
                    <a:pt x="387" y="140"/>
                  </a:cubicBezTo>
                  <a:cubicBezTo>
                    <a:pt x="394" y="89"/>
                    <a:pt x="361" y="42"/>
                    <a:pt x="310" y="35"/>
                  </a:cubicBezTo>
                  <a:lnTo>
                    <a:pt x="113" y="2"/>
                  </a:lnTo>
                  <a:cubicBezTo>
                    <a:pt x="109" y="1"/>
                    <a:pt x="104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7"/>
            <p:cNvSpPr/>
            <p:nvPr/>
          </p:nvSpPr>
          <p:spPr>
            <a:xfrm>
              <a:off x="10207624" y="3334689"/>
              <a:ext cx="69007" cy="30697"/>
            </a:xfrm>
            <a:custGeom>
              <a:rect b="b" l="l" r="r" t="t"/>
              <a:pathLst>
                <a:path extrusionOk="0" h="250" w="562">
                  <a:moveTo>
                    <a:pt x="104" y="0"/>
                  </a:moveTo>
                  <a:cubicBezTo>
                    <a:pt x="71" y="0"/>
                    <a:pt x="38" y="19"/>
                    <a:pt x="22" y="53"/>
                  </a:cubicBezTo>
                  <a:cubicBezTo>
                    <a:pt x="1" y="97"/>
                    <a:pt x="22" y="151"/>
                    <a:pt x="66" y="173"/>
                  </a:cubicBezTo>
                  <a:cubicBezTo>
                    <a:pt x="73" y="177"/>
                    <a:pt x="230" y="250"/>
                    <a:pt x="394" y="250"/>
                  </a:cubicBezTo>
                  <a:cubicBezTo>
                    <a:pt x="423" y="250"/>
                    <a:pt x="449" y="246"/>
                    <a:pt x="478" y="243"/>
                  </a:cubicBezTo>
                  <a:cubicBezTo>
                    <a:pt x="529" y="232"/>
                    <a:pt x="562" y="184"/>
                    <a:pt x="551" y="137"/>
                  </a:cubicBezTo>
                  <a:cubicBezTo>
                    <a:pt x="545" y="92"/>
                    <a:pt x="508" y="62"/>
                    <a:pt x="465" y="62"/>
                  </a:cubicBezTo>
                  <a:cubicBezTo>
                    <a:pt x="459" y="62"/>
                    <a:pt x="452" y="62"/>
                    <a:pt x="445" y="64"/>
                  </a:cubicBezTo>
                  <a:cubicBezTo>
                    <a:pt x="429" y="67"/>
                    <a:pt x="412" y="68"/>
                    <a:pt x="395" y="68"/>
                  </a:cubicBezTo>
                  <a:cubicBezTo>
                    <a:pt x="295" y="68"/>
                    <a:pt x="183" y="28"/>
                    <a:pt x="143" y="9"/>
                  </a:cubicBezTo>
                  <a:cubicBezTo>
                    <a:pt x="130" y="3"/>
                    <a:pt x="117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7"/>
            <p:cNvSpPr/>
            <p:nvPr/>
          </p:nvSpPr>
          <p:spPr>
            <a:xfrm>
              <a:off x="10001220" y="3221971"/>
              <a:ext cx="70848" cy="65937"/>
            </a:xfrm>
            <a:custGeom>
              <a:rect b="b" l="l" r="r" t="t"/>
              <a:pathLst>
                <a:path extrusionOk="0" h="537" w="577">
                  <a:moveTo>
                    <a:pt x="286" y="1"/>
                  </a:moveTo>
                  <a:cubicBezTo>
                    <a:pt x="159" y="1"/>
                    <a:pt x="46" y="93"/>
                    <a:pt x="23" y="224"/>
                  </a:cubicBezTo>
                  <a:cubicBezTo>
                    <a:pt x="1" y="369"/>
                    <a:pt x="99" y="508"/>
                    <a:pt x="245" y="533"/>
                  </a:cubicBezTo>
                  <a:cubicBezTo>
                    <a:pt x="259" y="536"/>
                    <a:pt x="272" y="537"/>
                    <a:pt x="286" y="537"/>
                  </a:cubicBezTo>
                  <a:cubicBezTo>
                    <a:pt x="416" y="537"/>
                    <a:pt x="532" y="443"/>
                    <a:pt x="551" y="311"/>
                  </a:cubicBezTo>
                  <a:cubicBezTo>
                    <a:pt x="577" y="165"/>
                    <a:pt x="478" y="27"/>
                    <a:pt x="333" y="5"/>
                  </a:cubicBezTo>
                  <a:cubicBezTo>
                    <a:pt x="317" y="2"/>
                    <a:pt x="302" y="1"/>
                    <a:pt x="286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7"/>
            <p:cNvSpPr/>
            <p:nvPr/>
          </p:nvSpPr>
          <p:spPr>
            <a:xfrm>
              <a:off x="9180268" y="3438321"/>
              <a:ext cx="814818" cy="1238312"/>
            </a:xfrm>
            <a:custGeom>
              <a:rect b="b" l="l" r="r" t="t"/>
              <a:pathLst>
                <a:path extrusionOk="0" h="10085" w="6636">
                  <a:moveTo>
                    <a:pt x="5490" y="0"/>
                  </a:moveTo>
                  <a:cubicBezTo>
                    <a:pt x="5132" y="0"/>
                    <a:pt x="4786" y="192"/>
                    <a:pt x="4605" y="529"/>
                  </a:cubicBezTo>
                  <a:lnTo>
                    <a:pt x="263" y="8608"/>
                  </a:lnTo>
                  <a:cubicBezTo>
                    <a:pt x="1" y="9096"/>
                    <a:pt x="183" y="9701"/>
                    <a:pt x="671" y="9964"/>
                  </a:cubicBezTo>
                  <a:cubicBezTo>
                    <a:pt x="821" y="10044"/>
                    <a:pt x="985" y="10084"/>
                    <a:pt x="1145" y="10084"/>
                  </a:cubicBezTo>
                  <a:cubicBezTo>
                    <a:pt x="1503" y="10084"/>
                    <a:pt x="1845" y="9895"/>
                    <a:pt x="2028" y="9556"/>
                  </a:cubicBezTo>
                  <a:lnTo>
                    <a:pt x="6373" y="1477"/>
                  </a:lnTo>
                  <a:cubicBezTo>
                    <a:pt x="6636" y="992"/>
                    <a:pt x="6454" y="383"/>
                    <a:pt x="5965" y="120"/>
                  </a:cubicBezTo>
                  <a:cubicBezTo>
                    <a:pt x="5814" y="39"/>
                    <a:pt x="5650" y="0"/>
                    <a:pt x="5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7"/>
            <p:cNvSpPr/>
            <p:nvPr/>
          </p:nvSpPr>
          <p:spPr>
            <a:xfrm>
              <a:off x="11247504" y="4355291"/>
              <a:ext cx="570471" cy="263379"/>
            </a:xfrm>
            <a:custGeom>
              <a:rect b="b" l="l" r="r" t="t"/>
              <a:pathLst>
                <a:path extrusionOk="0" h="2145" w="4646">
                  <a:moveTo>
                    <a:pt x="3410" y="1"/>
                  </a:moveTo>
                  <a:cubicBezTo>
                    <a:pt x="1903" y="1"/>
                    <a:pt x="1" y="804"/>
                    <a:pt x="1" y="804"/>
                  </a:cubicBezTo>
                  <a:cubicBezTo>
                    <a:pt x="1" y="804"/>
                    <a:pt x="766" y="1734"/>
                    <a:pt x="1149" y="2091"/>
                  </a:cubicBezTo>
                  <a:cubicBezTo>
                    <a:pt x="1185" y="2127"/>
                    <a:pt x="1232" y="2145"/>
                    <a:pt x="1280" y="2145"/>
                  </a:cubicBezTo>
                  <a:cubicBezTo>
                    <a:pt x="1310" y="2145"/>
                    <a:pt x="1340" y="2138"/>
                    <a:pt x="1368" y="2124"/>
                  </a:cubicBezTo>
                  <a:lnTo>
                    <a:pt x="4507" y="549"/>
                  </a:lnTo>
                  <a:cubicBezTo>
                    <a:pt x="4645" y="480"/>
                    <a:pt x="4645" y="283"/>
                    <a:pt x="4503" y="210"/>
                  </a:cubicBezTo>
                  <a:cubicBezTo>
                    <a:pt x="4198" y="60"/>
                    <a:pt x="3819" y="1"/>
                    <a:pt x="3410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7"/>
            <p:cNvSpPr/>
            <p:nvPr/>
          </p:nvSpPr>
          <p:spPr>
            <a:xfrm>
              <a:off x="11556803" y="4383655"/>
              <a:ext cx="249504" cy="74532"/>
            </a:xfrm>
            <a:custGeom>
              <a:rect b="b" l="l" r="r" t="t"/>
              <a:pathLst>
                <a:path extrusionOk="0" h="607" w="2032">
                  <a:moveTo>
                    <a:pt x="1844" y="0"/>
                  </a:moveTo>
                  <a:cubicBezTo>
                    <a:pt x="1201" y="0"/>
                    <a:pt x="569" y="153"/>
                    <a:pt x="1" y="442"/>
                  </a:cubicBezTo>
                  <a:lnTo>
                    <a:pt x="85" y="606"/>
                  </a:lnTo>
                  <a:cubicBezTo>
                    <a:pt x="624" y="328"/>
                    <a:pt x="1227" y="182"/>
                    <a:pt x="1835" y="182"/>
                  </a:cubicBezTo>
                  <a:cubicBezTo>
                    <a:pt x="1897" y="182"/>
                    <a:pt x="1959" y="184"/>
                    <a:pt x="2021" y="187"/>
                  </a:cubicBezTo>
                  <a:lnTo>
                    <a:pt x="2031" y="4"/>
                  </a:lnTo>
                  <a:cubicBezTo>
                    <a:pt x="1969" y="2"/>
                    <a:pt x="1906" y="0"/>
                    <a:pt x="18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7"/>
            <p:cNvSpPr/>
            <p:nvPr/>
          </p:nvSpPr>
          <p:spPr>
            <a:xfrm>
              <a:off x="11206739" y="4272287"/>
              <a:ext cx="291129" cy="273571"/>
            </a:xfrm>
            <a:custGeom>
              <a:rect b="b" l="l" r="r" t="t"/>
              <a:pathLst>
                <a:path extrusionOk="0" h="2228" w="2371">
                  <a:moveTo>
                    <a:pt x="1317" y="0"/>
                  </a:moveTo>
                  <a:lnTo>
                    <a:pt x="1" y="1404"/>
                  </a:lnTo>
                  <a:lnTo>
                    <a:pt x="971" y="2228"/>
                  </a:lnTo>
                  <a:lnTo>
                    <a:pt x="2371" y="842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7"/>
            <p:cNvSpPr/>
            <p:nvPr/>
          </p:nvSpPr>
          <p:spPr>
            <a:xfrm>
              <a:off x="8866180" y="4447872"/>
              <a:ext cx="491887" cy="273939"/>
            </a:xfrm>
            <a:custGeom>
              <a:rect b="b" l="l" r="r" t="t"/>
              <a:pathLst>
                <a:path extrusionOk="0" h="2231" w="4006">
                  <a:moveTo>
                    <a:pt x="2540" y="0"/>
                  </a:moveTo>
                  <a:cubicBezTo>
                    <a:pt x="1992" y="0"/>
                    <a:pt x="1463" y="78"/>
                    <a:pt x="1191" y="218"/>
                  </a:cubicBezTo>
                  <a:cubicBezTo>
                    <a:pt x="656" y="493"/>
                    <a:pt x="1" y="1685"/>
                    <a:pt x="410" y="1685"/>
                  </a:cubicBezTo>
                  <a:cubicBezTo>
                    <a:pt x="418" y="1685"/>
                    <a:pt x="427" y="1685"/>
                    <a:pt x="437" y="1683"/>
                  </a:cubicBezTo>
                  <a:cubicBezTo>
                    <a:pt x="527" y="1674"/>
                    <a:pt x="638" y="1670"/>
                    <a:pt x="756" y="1670"/>
                  </a:cubicBezTo>
                  <a:cubicBezTo>
                    <a:pt x="1248" y="1670"/>
                    <a:pt x="1884" y="1738"/>
                    <a:pt x="1884" y="1738"/>
                  </a:cubicBezTo>
                  <a:cubicBezTo>
                    <a:pt x="1884" y="1738"/>
                    <a:pt x="670" y="2231"/>
                    <a:pt x="1067" y="2231"/>
                  </a:cubicBezTo>
                  <a:cubicBezTo>
                    <a:pt x="1120" y="2231"/>
                    <a:pt x="1203" y="2222"/>
                    <a:pt x="1323" y="2201"/>
                  </a:cubicBezTo>
                  <a:cubicBezTo>
                    <a:pt x="2006" y="2084"/>
                    <a:pt x="2856" y="2066"/>
                    <a:pt x="3329" y="2066"/>
                  </a:cubicBezTo>
                  <a:cubicBezTo>
                    <a:pt x="3550" y="2066"/>
                    <a:pt x="3689" y="2070"/>
                    <a:pt x="3689" y="2070"/>
                  </a:cubicBezTo>
                  <a:lnTo>
                    <a:pt x="4006" y="247"/>
                  </a:lnTo>
                  <a:cubicBezTo>
                    <a:pt x="3656" y="78"/>
                    <a:pt x="3088" y="0"/>
                    <a:pt x="2540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7"/>
            <p:cNvSpPr/>
            <p:nvPr/>
          </p:nvSpPr>
          <p:spPr>
            <a:xfrm>
              <a:off x="9150309" y="4341170"/>
              <a:ext cx="347980" cy="362100"/>
            </a:xfrm>
            <a:custGeom>
              <a:rect b="b" l="l" r="r" t="t"/>
              <a:pathLst>
                <a:path extrusionOk="0" h="2949" w="2834">
                  <a:moveTo>
                    <a:pt x="1247" y="0"/>
                  </a:moveTo>
                  <a:lnTo>
                    <a:pt x="0" y="2272"/>
                  </a:lnTo>
                  <a:lnTo>
                    <a:pt x="1269" y="2924"/>
                  </a:lnTo>
                  <a:lnTo>
                    <a:pt x="1375" y="2939"/>
                  </a:lnTo>
                  <a:cubicBezTo>
                    <a:pt x="1410" y="2945"/>
                    <a:pt x="1446" y="2948"/>
                    <a:pt x="1481" y="2948"/>
                  </a:cubicBezTo>
                  <a:cubicBezTo>
                    <a:pt x="1710" y="2948"/>
                    <a:pt x="1927" y="2819"/>
                    <a:pt x="2035" y="2611"/>
                  </a:cubicBezTo>
                  <a:lnTo>
                    <a:pt x="2833" y="1058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7"/>
            <p:cNvSpPr/>
            <p:nvPr/>
          </p:nvSpPr>
          <p:spPr>
            <a:xfrm>
              <a:off x="10371421" y="4506318"/>
              <a:ext cx="207388" cy="196214"/>
            </a:xfrm>
            <a:custGeom>
              <a:rect b="b" l="l" r="r" t="t"/>
              <a:pathLst>
                <a:path extrusionOk="0" h="1598" w="1689">
                  <a:moveTo>
                    <a:pt x="1" y="1"/>
                  </a:moveTo>
                  <a:lnTo>
                    <a:pt x="1689" y="1598"/>
                  </a:lnTo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7"/>
            <p:cNvSpPr/>
            <p:nvPr/>
          </p:nvSpPr>
          <p:spPr>
            <a:xfrm>
              <a:off x="10363809" y="4497846"/>
              <a:ext cx="222614" cy="213159"/>
            </a:xfrm>
            <a:custGeom>
              <a:rect b="b" l="l" r="r" t="t"/>
              <a:pathLst>
                <a:path extrusionOk="0" h="1736" w="1813">
                  <a:moveTo>
                    <a:pt x="125" y="0"/>
                  </a:moveTo>
                  <a:lnTo>
                    <a:pt x="1" y="135"/>
                  </a:lnTo>
                  <a:lnTo>
                    <a:pt x="1685" y="1736"/>
                  </a:lnTo>
                  <a:lnTo>
                    <a:pt x="1813" y="160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7"/>
            <p:cNvSpPr/>
            <p:nvPr/>
          </p:nvSpPr>
          <p:spPr>
            <a:xfrm>
              <a:off x="9810532" y="3491488"/>
              <a:ext cx="882474" cy="698047"/>
            </a:xfrm>
            <a:custGeom>
              <a:rect b="b" l="l" r="r" t="t"/>
              <a:pathLst>
                <a:path extrusionOk="0" h="5685" w="7187">
                  <a:moveTo>
                    <a:pt x="1" y="1"/>
                  </a:moveTo>
                  <a:lnTo>
                    <a:pt x="661" y="4642"/>
                  </a:lnTo>
                  <a:cubicBezTo>
                    <a:pt x="744" y="5240"/>
                    <a:pt x="1255" y="5685"/>
                    <a:pt x="1860" y="5685"/>
                  </a:cubicBezTo>
                  <a:lnTo>
                    <a:pt x="5885" y="5685"/>
                  </a:lnTo>
                  <a:cubicBezTo>
                    <a:pt x="6621" y="5685"/>
                    <a:pt x="7187" y="5032"/>
                    <a:pt x="7081" y="4303"/>
                  </a:cubicBezTo>
                  <a:lnTo>
                    <a:pt x="6468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7"/>
            <p:cNvSpPr/>
            <p:nvPr/>
          </p:nvSpPr>
          <p:spPr>
            <a:xfrm>
              <a:off x="9845895" y="3527832"/>
              <a:ext cx="117016" cy="282166"/>
            </a:xfrm>
            <a:custGeom>
              <a:rect b="b" l="l" r="r" t="t"/>
              <a:pathLst>
                <a:path extrusionOk="0" h="2298" w="953">
                  <a:moveTo>
                    <a:pt x="952" y="0"/>
                  </a:moveTo>
                  <a:lnTo>
                    <a:pt x="1" y="2297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7"/>
            <p:cNvSpPr/>
            <p:nvPr/>
          </p:nvSpPr>
          <p:spPr>
            <a:xfrm>
              <a:off x="9835581" y="3523289"/>
              <a:ext cx="137645" cy="291129"/>
            </a:xfrm>
            <a:custGeom>
              <a:rect b="b" l="l" r="r" t="t"/>
              <a:pathLst>
                <a:path extrusionOk="0" h="2371" w="1121">
                  <a:moveTo>
                    <a:pt x="952" y="1"/>
                  </a:moveTo>
                  <a:lnTo>
                    <a:pt x="1" y="2301"/>
                  </a:lnTo>
                  <a:lnTo>
                    <a:pt x="169" y="2370"/>
                  </a:lnTo>
                  <a:lnTo>
                    <a:pt x="1120" y="70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7"/>
            <p:cNvSpPr/>
            <p:nvPr/>
          </p:nvSpPr>
          <p:spPr>
            <a:xfrm>
              <a:off x="10606067" y="3570808"/>
              <a:ext cx="56973" cy="333122"/>
            </a:xfrm>
            <a:custGeom>
              <a:rect b="b" l="l" r="r" t="t"/>
              <a:pathLst>
                <a:path extrusionOk="0" h="2713" w="464">
                  <a:moveTo>
                    <a:pt x="0" y="0"/>
                  </a:moveTo>
                  <a:lnTo>
                    <a:pt x="463" y="2713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7"/>
            <p:cNvSpPr/>
            <p:nvPr/>
          </p:nvSpPr>
          <p:spPr>
            <a:xfrm>
              <a:off x="10595261" y="3568966"/>
              <a:ext cx="78461" cy="337174"/>
            </a:xfrm>
            <a:custGeom>
              <a:rect b="b" l="l" r="r" t="t"/>
              <a:pathLst>
                <a:path extrusionOk="0" h="2746" w="639">
                  <a:moveTo>
                    <a:pt x="179" y="1"/>
                  </a:moveTo>
                  <a:lnTo>
                    <a:pt x="1" y="30"/>
                  </a:lnTo>
                  <a:lnTo>
                    <a:pt x="460" y="2746"/>
                  </a:lnTo>
                  <a:lnTo>
                    <a:pt x="639" y="2713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7"/>
            <p:cNvSpPr/>
            <p:nvPr/>
          </p:nvSpPr>
          <p:spPr>
            <a:xfrm>
              <a:off x="12379228" y="3304484"/>
              <a:ext cx="259204" cy="265958"/>
            </a:xfrm>
            <a:custGeom>
              <a:rect b="b" l="l" r="r" t="t"/>
              <a:pathLst>
                <a:path extrusionOk="0" h="2166" w="2111">
                  <a:moveTo>
                    <a:pt x="1054" y="0"/>
                  </a:moveTo>
                  <a:cubicBezTo>
                    <a:pt x="1054" y="0"/>
                    <a:pt x="1028" y="1097"/>
                    <a:pt x="0" y="1097"/>
                  </a:cubicBezTo>
                  <a:cubicBezTo>
                    <a:pt x="1028" y="1097"/>
                    <a:pt x="1054" y="2166"/>
                    <a:pt x="1054" y="2166"/>
                  </a:cubicBezTo>
                  <a:cubicBezTo>
                    <a:pt x="1054" y="2166"/>
                    <a:pt x="1083" y="1097"/>
                    <a:pt x="2111" y="1097"/>
                  </a:cubicBezTo>
                  <a:cubicBezTo>
                    <a:pt x="1083" y="1097"/>
                    <a:pt x="1054" y="0"/>
                    <a:pt x="105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0" name="Google Shape;1140;p67"/>
          <p:cNvGrpSpPr/>
          <p:nvPr/>
        </p:nvGrpSpPr>
        <p:grpSpPr>
          <a:xfrm>
            <a:off x="14061414" y="153601"/>
            <a:ext cx="3957972" cy="536147"/>
            <a:chOff x="14061414" y="9450001"/>
            <a:chExt cx="3957972" cy="536147"/>
          </a:xfrm>
        </p:grpSpPr>
        <p:grpSp>
          <p:nvGrpSpPr>
            <p:cNvPr id="1141" name="Google Shape;1141;p67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1142" name="Google Shape;1142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3" name="Google Shape;1143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4" name="Google Shape;1144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5" name="Google Shape;1145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6" name="Google Shape;1146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7" name="Google Shape;1147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8" name="Google Shape;1148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49" name="Google Shape;1149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50" name="Google Shape;1150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51" name="Google Shape;1151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52" name="Google Shape;1152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153" name="Google Shape;1153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54" name="Google Shape;1154;p67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55" name="Google Shape;1155;p67"/>
          <p:cNvSpPr/>
          <p:nvPr/>
        </p:nvSpPr>
        <p:spPr>
          <a:xfrm>
            <a:off x="567500" y="3982125"/>
            <a:ext cx="59727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67"/>
          <p:cNvSpPr txBox="1"/>
          <p:nvPr/>
        </p:nvSpPr>
        <p:spPr>
          <a:xfrm>
            <a:off x="901770" y="2951800"/>
            <a:ext cx="6933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Proyecto Final</a:t>
            </a: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Estadística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1" name="Google Shape;1161;p68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162" name="Google Shape;1162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63" name="Google Shape;1163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75" name="Google Shape;1175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76" name="Google Shape;1176;p68"/>
          <p:cNvGrpSpPr/>
          <p:nvPr/>
        </p:nvGrpSpPr>
        <p:grpSpPr>
          <a:xfrm>
            <a:off x="1015038" y="6166475"/>
            <a:ext cx="4269677" cy="4271950"/>
            <a:chOff x="15416775" y="3509903"/>
            <a:chExt cx="1575178" cy="1576016"/>
          </a:xfrm>
        </p:grpSpPr>
        <p:sp>
          <p:nvSpPr>
            <p:cNvPr id="1177" name="Google Shape;1177;p68"/>
            <p:cNvSpPr/>
            <p:nvPr/>
          </p:nvSpPr>
          <p:spPr>
            <a:xfrm>
              <a:off x="15416775" y="4371604"/>
              <a:ext cx="1428630" cy="714315"/>
            </a:xfrm>
            <a:custGeom>
              <a:rect b="b" l="l" r="r" t="t"/>
              <a:pathLst>
                <a:path extrusionOk="0" h="1706" w="3412">
                  <a:moveTo>
                    <a:pt x="1706" y="1"/>
                  </a:moveTo>
                  <a:cubicBezTo>
                    <a:pt x="764" y="1"/>
                    <a:pt x="1" y="765"/>
                    <a:pt x="1" y="1706"/>
                  </a:cubicBezTo>
                  <a:lnTo>
                    <a:pt x="3411" y="1706"/>
                  </a:lnTo>
                  <a:cubicBezTo>
                    <a:pt x="3411" y="765"/>
                    <a:pt x="2647" y="1"/>
                    <a:pt x="17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8"/>
            <p:cNvSpPr/>
            <p:nvPr/>
          </p:nvSpPr>
          <p:spPr>
            <a:xfrm>
              <a:off x="15608961" y="3509903"/>
              <a:ext cx="820667" cy="820667"/>
            </a:xfrm>
            <a:custGeom>
              <a:rect b="b" l="l" r="r" t="t"/>
              <a:pathLst>
                <a:path extrusionOk="0" h="1960" w="1960">
                  <a:moveTo>
                    <a:pt x="980" y="0"/>
                  </a:moveTo>
                  <a:cubicBezTo>
                    <a:pt x="439" y="0"/>
                    <a:pt x="0" y="439"/>
                    <a:pt x="0" y="980"/>
                  </a:cubicBezTo>
                  <a:cubicBezTo>
                    <a:pt x="0" y="1521"/>
                    <a:pt x="439" y="1960"/>
                    <a:pt x="980" y="1960"/>
                  </a:cubicBezTo>
                  <a:cubicBezTo>
                    <a:pt x="1521" y="1960"/>
                    <a:pt x="1960" y="1521"/>
                    <a:pt x="1960" y="980"/>
                  </a:cubicBezTo>
                  <a:cubicBezTo>
                    <a:pt x="1960" y="439"/>
                    <a:pt x="1521" y="0"/>
                    <a:pt x="98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8"/>
            <p:cNvSpPr/>
            <p:nvPr/>
          </p:nvSpPr>
          <p:spPr>
            <a:xfrm>
              <a:off x="16636889" y="4154714"/>
              <a:ext cx="355064" cy="829041"/>
            </a:xfrm>
            <a:custGeom>
              <a:rect b="b" l="l" r="r" t="t"/>
              <a:pathLst>
                <a:path extrusionOk="0" h="1980" w="848">
                  <a:moveTo>
                    <a:pt x="424" y="0"/>
                  </a:moveTo>
                  <a:cubicBezTo>
                    <a:pt x="190" y="0"/>
                    <a:pt x="0" y="190"/>
                    <a:pt x="0" y="423"/>
                  </a:cubicBezTo>
                  <a:lnTo>
                    <a:pt x="0" y="1557"/>
                  </a:lnTo>
                  <a:cubicBezTo>
                    <a:pt x="0" y="1790"/>
                    <a:pt x="190" y="1979"/>
                    <a:pt x="424" y="1979"/>
                  </a:cubicBezTo>
                  <a:cubicBezTo>
                    <a:pt x="658" y="1979"/>
                    <a:pt x="847" y="1790"/>
                    <a:pt x="847" y="1557"/>
                  </a:cubicBezTo>
                  <a:lnTo>
                    <a:pt x="847" y="423"/>
                  </a:lnTo>
                  <a:cubicBezTo>
                    <a:pt x="847" y="190"/>
                    <a:pt x="658" y="0"/>
                    <a:pt x="424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8"/>
            <p:cNvSpPr/>
            <p:nvPr/>
          </p:nvSpPr>
          <p:spPr>
            <a:xfrm>
              <a:off x="16177566" y="3753172"/>
              <a:ext cx="94209" cy="204748"/>
            </a:xfrm>
            <a:custGeom>
              <a:rect b="b" l="l" r="r" t="t"/>
              <a:pathLst>
                <a:path extrusionOk="0" h="489" w="225">
                  <a:moveTo>
                    <a:pt x="78" y="1"/>
                  </a:moveTo>
                  <a:lnTo>
                    <a:pt x="15" y="23"/>
                  </a:lnTo>
                  <a:lnTo>
                    <a:pt x="138" y="376"/>
                  </a:lnTo>
                  <a:lnTo>
                    <a:pt x="1" y="425"/>
                  </a:lnTo>
                  <a:lnTo>
                    <a:pt x="23" y="488"/>
                  </a:lnTo>
                  <a:lnTo>
                    <a:pt x="224" y="419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8"/>
            <p:cNvSpPr/>
            <p:nvPr/>
          </p:nvSpPr>
          <p:spPr>
            <a:xfrm>
              <a:off x="16132765" y="4059667"/>
              <a:ext cx="127287" cy="48570"/>
            </a:xfrm>
            <a:custGeom>
              <a:rect b="b" l="l" r="r" t="t"/>
              <a:pathLst>
                <a:path extrusionOk="0" h="116" w="304">
                  <a:moveTo>
                    <a:pt x="271" y="1"/>
                  </a:moveTo>
                  <a:cubicBezTo>
                    <a:pt x="204" y="38"/>
                    <a:pt x="147" y="48"/>
                    <a:pt x="105" y="48"/>
                  </a:cubicBezTo>
                  <a:cubicBezTo>
                    <a:pt x="60" y="48"/>
                    <a:pt x="33" y="36"/>
                    <a:pt x="30" y="35"/>
                  </a:cubicBezTo>
                  <a:lnTo>
                    <a:pt x="1" y="96"/>
                  </a:lnTo>
                  <a:cubicBezTo>
                    <a:pt x="4" y="98"/>
                    <a:pt x="43" y="116"/>
                    <a:pt x="106" y="116"/>
                  </a:cubicBezTo>
                  <a:cubicBezTo>
                    <a:pt x="158" y="116"/>
                    <a:pt x="226" y="103"/>
                    <a:pt x="304" y="61"/>
                  </a:cubicBezTo>
                  <a:lnTo>
                    <a:pt x="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2" name="Google Shape;1182;p68"/>
          <p:cNvSpPr txBox="1"/>
          <p:nvPr/>
        </p:nvSpPr>
        <p:spPr>
          <a:xfrm>
            <a:off x="4829200" y="1178675"/>
            <a:ext cx="11180100" cy="6368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60000" lIns="360000" spcFirstLastPara="1" rIns="360000" wrap="square" tIns="36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300">
                <a:solidFill>
                  <a:srgbClr val="0C0C0C"/>
                </a:solidFill>
                <a:latin typeface="Archivo"/>
                <a:ea typeface="Archivo"/>
                <a:cs typeface="Archivo"/>
                <a:sym typeface="Archivo"/>
              </a:rPr>
              <a:t>Los </a:t>
            </a:r>
            <a:r>
              <a:rPr lang="es-419" sz="3300">
                <a:solidFill>
                  <a:srgbClr val="0C0C0C"/>
                </a:solidFill>
                <a:latin typeface="Archivo"/>
                <a:ea typeface="Archivo"/>
                <a:cs typeface="Archivo"/>
                <a:sym typeface="Archivo"/>
              </a:rPr>
              <a:t>jugadores</a:t>
            </a:r>
            <a:r>
              <a:rPr lang="es-419" sz="3300">
                <a:solidFill>
                  <a:srgbClr val="0C0C0C"/>
                </a:solidFill>
                <a:latin typeface="Archivo"/>
                <a:ea typeface="Archivo"/>
                <a:cs typeface="Archivo"/>
                <a:sym typeface="Archivo"/>
              </a:rPr>
              <a:t> jóvenes de la NBA enfrentan una serie de desafíos y obstáculos en su camino hacia un futuro exitoso en la liga.</a:t>
            </a:r>
            <a:endParaRPr sz="3300">
              <a:solidFill>
                <a:srgbClr val="0C0C0C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rgbClr val="0C0C0C"/>
                </a:solidFill>
                <a:latin typeface="Archivo"/>
                <a:ea typeface="Archivo"/>
                <a:cs typeface="Archivo"/>
                <a:sym typeface="Archivo"/>
              </a:rPr>
              <a:t>¿Por qué algunos jugadores tienen éxito y otros no?</a:t>
            </a:r>
            <a:br>
              <a:rPr b="1" lang="es-419" sz="3300">
                <a:solidFill>
                  <a:srgbClr val="0C0C0C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1" sz="3300">
              <a:solidFill>
                <a:srgbClr val="0C0C0C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300">
                <a:solidFill>
                  <a:srgbClr val="0C0C0C"/>
                </a:solidFill>
                <a:latin typeface="Archivo"/>
                <a:ea typeface="Archivo"/>
                <a:cs typeface="Archivo"/>
                <a:sym typeface="Archivo"/>
              </a:rPr>
              <a:t> Hay varios aspectos que podrían ayudar a identificar la causa raíz de esta eventual caída. Este conjunto de datos consiste en un registro de estadísticas de varios jugadores novatos de la NBA a lo largo de su primera temporada. Con estos conjuntos de características, podremos observar tendencias entre los jugadores.</a:t>
            </a:r>
            <a:endParaRPr sz="3300">
              <a:solidFill>
                <a:srgbClr val="0C0C0C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83" name="Google Shape;1183;p68"/>
          <p:cNvGrpSpPr/>
          <p:nvPr/>
        </p:nvGrpSpPr>
        <p:grpSpPr>
          <a:xfrm rot="5400000">
            <a:off x="6171518" y="8598464"/>
            <a:ext cx="734109" cy="968979"/>
            <a:chOff x="4167206" y="5024326"/>
            <a:chExt cx="904966" cy="1194501"/>
          </a:xfrm>
        </p:grpSpPr>
        <p:sp>
          <p:nvSpPr>
            <p:cNvPr id="1184" name="Google Shape;1184;p68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8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8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8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8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8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8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8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2" name="Google Shape;1192;p68"/>
          <p:cNvSpPr txBox="1"/>
          <p:nvPr/>
        </p:nvSpPr>
        <p:spPr>
          <a:xfrm>
            <a:off x="5100500" y="8460000"/>
            <a:ext cx="1101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b="1" lang="es-419" sz="3000">
                <a:solidFill>
                  <a:srgbClr val="161616"/>
                </a:solidFill>
                <a:highlight>
                  <a:srgbClr val="FFD148"/>
                </a:highlight>
                <a:latin typeface="Archivo"/>
                <a:ea typeface="Archivo"/>
                <a:cs typeface="Archivo"/>
                <a:sym typeface="Archivo"/>
              </a:rPr>
              <a:t>ENLACE </a:t>
            </a: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puedes</a:t>
            </a: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acceder al dataset.</a:t>
            </a:r>
            <a:endParaRPr sz="30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7" name="Google Shape;1197;p69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198" name="Google Shape;1198;p6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99" name="Google Shape;1199;p6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6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6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6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6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6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6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6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6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6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6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6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1" name="Google Shape;1211;p6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12" name="Google Shape;1212;p69"/>
          <p:cNvSpPr txBox="1"/>
          <p:nvPr/>
        </p:nvSpPr>
        <p:spPr>
          <a:xfrm>
            <a:off x="7694850" y="3424375"/>
            <a:ext cx="10254600" cy="26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 puede observar que la </a:t>
            </a:r>
            <a:r>
              <a:rPr lang="es-419" sz="2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mayoría de los jugadores se encuentran concentrados en el rango de 60 a 85 partidos jugados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Estos jugadores suelen poseer un alto nivel de talento y dedicación a su deporte.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También encontramos </a:t>
            </a:r>
            <a:r>
              <a:rPr lang="es-419" sz="25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un rango reducido de jugadores que se ubican entre los 10 y 35 partidos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jugados, lo cual puede deberse a una serie de factores como las lesiones, competencia y nivel de habilidad.</a:t>
            </a:r>
            <a:endParaRPr b="1" i="1" sz="3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213" name="Google Shape;1213;p69"/>
          <p:cNvGrpSpPr/>
          <p:nvPr/>
        </p:nvGrpSpPr>
        <p:grpSpPr>
          <a:xfrm>
            <a:off x="6686466" y="8831766"/>
            <a:ext cx="4915067" cy="1681813"/>
            <a:chOff x="3345475" y="2308500"/>
            <a:chExt cx="1053650" cy="360525"/>
          </a:xfrm>
        </p:grpSpPr>
        <p:sp>
          <p:nvSpPr>
            <p:cNvPr id="1214" name="Google Shape;1214;p69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9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9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9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9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9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9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9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9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9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9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9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9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9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9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9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9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9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9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9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9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9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9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9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9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9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9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9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9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9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4" name="Google Shape;1244;p69"/>
          <p:cNvSpPr/>
          <p:nvPr/>
        </p:nvSpPr>
        <p:spPr>
          <a:xfrm>
            <a:off x="3135600" y="7173600"/>
            <a:ext cx="12203400" cy="1383900"/>
          </a:xfrm>
          <a:prstGeom prst="wedgeRoundRectCallout">
            <a:avLst>
              <a:gd fmla="val -4210" name="adj1"/>
              <a:gd fmla="val 92239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histograma proporciona información valiosa. Estos datos pueden ser útiles para jugadores, entrenadores y equipos, ayudándoles a comprender mejor las tendencias del juego y a tomar decisiones informadas.</a:t>
            </a:r>
            <a:endParaRPr b="1"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5" name="Google Shape;1245;p69"/>
          <p:cNvSpPr txBox="1"/>
          <p:nvPr>
            <p:ph type="title"/>
          </p:nvPr>
        </p:nvSpPr>
        <p:spPr>
          <a:xfrm rot="-5400000">
            <a:off x="-4675700" y="3362200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6" name="Google Shape;1246;p6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56" y="2540681"/>
            <a:ext cx="7158038" cy="452913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7" name="Google Shape;1247;p69"/>
          <p:cNvSpPr/>
          <p:nvPr/>
        </p:nvSpPr>
        <p:spPr>
          <a:xfrm>
            <a:off x="4953975" y="3336375"/>
            <a:ext cx="2297700" cy="31608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69"/>
          <p:cNvSpPr/>
          <p:nvPr/>
        </p:nvSpPr>
        <p:spPr>
          <a:xfrm>
            <a:off x="1129200" y="4815375"/>
            <a:ext cx="2133600" cy="1681800"/>
          </a:xfrm>
          <a:prstGeom prst="rect">
            <a:avLst/>
          </a:prstGeom>
          <a:noFill/>
          <a:ln cap="flat" cmpd="sng" w="76200">
            <a:solidFill>
              <a:srgbClr val="FDA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69"/>
          <p:cNvSpPr txBox="1"/>
          <p:nvPr>
            <p:ph idx="2" type="title"/>
          </p:nvPr>
        </p:nvSpPr>
        <p:spPr>
          <a:xfrm>
            <a:off x="826350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Análisis Gráfico Histograma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4" name="Google Shape;1254;p70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255" name="Google Shape;1255;p7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56" name="Google Shape;1256;p7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7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7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7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7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7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7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7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7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7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7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7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8" name="Google Shape;1268;p7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69" name="Google Shape;1269;p70"/>
          <p:cNvGrpSpPr/>
          <p:nvPr/>
        </p:nvGrpSpPr>
        <p:grpSpPr>
          <a:xfrm>
            <a:off x="6686466" y="8831766"/>
            <a:ext cx="4915067" cy="1681813"/>
            <a:chOff x="3345475" y="2308500"/>
            <a:chExt cx="1053650" cy="360525"/>
          </a:xfrm>
        </p:grpSpPr>
        <p:sp>
          <p:nvSpPr>
            <p:cNvPr id="1270" name="Google Shape;1270;p70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70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70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70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70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70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70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70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70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70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70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70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70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70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70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70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70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70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70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70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70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70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70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70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70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70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70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70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70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70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0" name="Google Shape;1300;p70"/>
          <p:cNvSpPr/>
          <p:nvPr/>
        </p:nvSpPr>
        <p:spPr>
          <a:xfrm>
            <a:off x="3135600" y="7173600"/>
            <a:ext cx="12203400" cy="1383900"/>
          </a:xfrm>
          <a:prstGeom prst="wedgeRoundRectCallout">
            <a:avLst>
              <a:gd fmla="val -4210" name="adj1"/>
              <a:gd fmla="val 92239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gráfico de boxplot fue creado con los siguientes datos:</a:t>
            </a:r>
            <a:endParaRPr b="1" i="1"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01" name="Google Shape;1301;p70"/>
          <p:cNvSpPr txBox="1"/>
          <p:nvPr>
            <p:ph type="title"/>
          </p:nvPr>
        </p:nvSpPr>
        <p:spPr>
          <a:xfrm rot="-5400000">
            <a:off x="-4675700" y="3362200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70"/>
          <p:cNvSpPr txBox="1"/>
          <p:nvPr>
            <p:ph idx="2" type="title"/>
          </p:nvPr>
        </p:nvSpPr>
        <p:spPr>
          <a:xfrm>
            <a:off x="826350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Análisis Gráfico Boxplot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70"/>
          <p:cNvSpPr txBox="1"/>
          <p:nvPr/>
        </p:nvSpPr>
        <p:spPr>
          <a:xfrm>
            <a:off x="8802900" y="1510900"/>
            <a:ext cx="8770800" cy="5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gráfico de boxplot podemos observar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distribuye el promedio de los puntos anotados por partido de todos los jugadores. 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puede observar que el 25% de los jugadores anota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9 puntos o más por partido, mientras que el resto anota menos que  esa cantidad.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Podemos ver que el máximo son 38 puntos; gracias al gráfico de boxplot, podemos </a:t>
            </a:r>
            <a:r>
              <a:rPr b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notar que es un outlier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debido a su distancia con el valor de Q3. Una </a:t>
            </a: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hipótesis</a:t>
            </a: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justificar este valor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podría ser que es un jugador que juega muchos </a:t>
            </a:r>
            <a:r>
              <a:rPr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 minutos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los demás, por lo cual tiene más oportunidades para anotar más puntos. 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04" name="Google Shape;1304;p70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75" y="1689281"/>
            <a:ext cx="8143875" cy="452913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05" name="Google Shape;1305;p70"/>
          <p:cNvPicPr preferRelativeResize="0"/>
          <p:nvPr/>
        </p:nvPicPr>
        <p:blipFill rotWithShape="1">
          <a:blip r:embed="rId4">
            <a:alphaModFix/>
          </a:blip>
          <a:srcRect b="8874" l="0" r="1351" t="16494"/>
          <a:stretch/>
        </p:blipFill>
        <p:spPr>
          <a:xfrm>
            <a:off x="6106838" y="7788025"/>
            <a:ext cx="6260925" cy="4932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06" name="Google Shape;1306;p70"/>
          <p:cNvCxnSpPr/>
          <p:nvPr/>
        </p:nvCxnSpPr>
        <p:spPr>
          <a:xfrm>
            <a:off x="1793625" y="5004175"/>
            <a:ext cx="688200" cy="0"/>
          </a:xfrm>
          <a:prstGeom prst="straightConnector1">
            <a:avLst/>
          </a:prstGeom>
          <a:noFill/>
          <a:ln cap="flat" cmpd="sng" w="38100">
            <a:solidFill>
              <a:srgbClr val="73CBA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7" name="Google Shape;1307;p70"/>
          <p:cNvCxnSpPr/>
          <p:nvPr/>
        </p:nvCxnSpPr>
        <p:spPr>
          <a:xfrm>
            <a:off x="1793625" y="2714300"/>
            <a:ext cx="688200" cy="0"/>
          </a:xfrm>
          <a:prstGeom prst="straightConnector1">
            <a:avLst/>
          </a:prstGeom>
          <a:noFill/>
          <a:ln cap="flat" cmpd="sng" w="38100">
            <a:solidFill>
              <a:srgbClr val="73CBA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8" name="Google Shape;1308;p70"/>
          <p:cNvCxnSpPr/>
          <p:nvPr/>
        </p:nvCxnSpPr>
        <p:spPr>
          <a:xfrm>
            <a:off x="1793625" y="5344750"/>
            <a:ext cx="688200" cy="0"/>
          </a:xfrm>
          <a:prstGeom prst="straightConnector1">
            <a:avLst/>
          </a:prstGeom>
          <a:noFill/>
          <a:ln cap="flat" cmpd="sng" w="38100">
            <a:solidFill>
              <a:srgbClr val="73CBA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9" name="Google Shape;1309;p70"/>
          <p:cNvCxnSpPr/>
          <p:nvPr/>
        </p:nvCxnSpPr>
        <p:spPr>
          <a:xfrm>
            <a:off x="1793625" y="5670000"/>
            <a:ext cx="688200" cy="0"/>
          </a:xfrm>
          <a:prstGeom prst="straightConnector1">
            <a:avLst/>
          </a:prstGeom>
          <a:noFill/>
          <a:ln cap="flat" cmpd="sng" w="38100">
            <a:solidFill>
              <a:srgbClr val="73CBA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0" name="Google Shape;1310;p70"/>
          <p:cNvSpPr txBox="1"/>
          <p:nvPr/>
        </p:nvSpPr>
        <p:spPr>
          <a:xfrm>
            <a:off x="587025" y="4864088"/>
            <a:ext cx="120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Q3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1" name="Google Shape;1311;p70"/>
          <p:cNvSpPr txBox="1"/>
          <p:nvPr/>
        </p:nvSpPr>
        <p:spPr>
          <a:xfrm>
            <a:off x="587025" y="2560388"/>
            <a:ext cx="120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Máximo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2" name="Google Shape;1312;p70"/>
          <p:cNvSpPr txBox="1"/>
          <p:nvPr/>
        </p:nvSpPr>
        <p:spPr>
          <a:xfrm>
            <a:off x="587025" y="5497750"/>
            <a:ext cx="120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Mínimo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3" name="Google Shape;1313;p70"/>
          <p:cNvSpPr txBox="1"/>
          <p:nvPr/>
        </p:nvSpPr>
        <p:spPr>
          <a:xfrm>
            <a:off x="587025" y="5189950"/>
            <a:ext cx="120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Q1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71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319" name="Google Shape;1319;p7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20" name="Google Shape;1320;p7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7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7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7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7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7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32" name="Google Shape;1332;p7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33" name="Google Shape;1333;p71"/>
          <p:cNvGrpSpPr/>
          <p:nvPr/>
        </p:nvGrpSpPr>
        <p:grpSpPr>
          <a:xfrm>
            <a:off x="6686466" y="8831766"/>
            <a:ext cx="4915067" cy="1681813"/>
            <a:chOff x="3345475" y="2308500"/>
            <a:chExt cx="1053650" cy="360525"/>
          </a:xfrm>
        </p:grpSpPr>
        <p:sp>
          <p:nvSpPr>
            <p:cNvPr id="1334" name="Google Shape;1334;p71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71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71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71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71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71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71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71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71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71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71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71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71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71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71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71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71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71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71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71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71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71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71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71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71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71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71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71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71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71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4" name="Google Shape;1364;p71"/>
          <p:cNvSpPr/>
          <p:nvPr/>
        </p:nvSpPr>
        <p:spPr>
          <a:xfrm>
            <a:off x="3135600" y="7173600"/>
            <a:ext cx="12203400" cy="1383900"/>
          </a:xfrm>
          <a:prstGeom prst="wedgeRoundRectCallout">
            <a:avLst>
              <a:gd fmla="val -4210" name="adj1"/>
              <a:gd fmla="val 92239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</a:t>
            </a: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</a:t>
            </a: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compone con los siguientes datos:</a:t>
            </a:r>
            <a:b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1"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65" name="Google Shape;1365;p71"/>
          <p:cNvSpPr txBox="1"/>
          <p:nvPr>
            <p:ph type="title"/>
          </p:nvPr>
        </p:nvSpPr>
        <p:spPr>
          <a:xfrm rot="-5400000">
            <a:off x="-4675700" y="3362200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6" name="Google Shape;1366;p71"/>
          <p:cNvSpPr txBox="1"/>
          <p:nvPr>
            <p:ph idx="2"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Análisis Gráfico</a:t>
            </a: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de Dispersión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71"/>
          <p:cNvSpPr txBox="1"/>
          <p:nvPr/>
        </p:nvSpPr>
        <p:spPr>
          <a:xfrm>
            <a:off x="8021425" y="2178825"/>
            <a:ext cx="9820500" cy="4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dispersión podemos observar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dispersan los puntos promedios anotados por jugador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relación con el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promedio de minutos jugados por cada jugador. 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highlight>
                  <a:srgbClr val="00CC7E"/>
                </a:highlight>
                <a:latin typeface="Archivo"/>
                <a:ea typeface="Archivo"/>
                <a:cs typeface="Archivo"/>
                <a:sym typeface="Archivo"/>
              </a:rPr>
              <a:t>Se puede notar una </a:t>
            </a:r>
            <a:r>
              <a:rPr b="1" lang="es-419" sz="2500">
                <a:solidFill>
                  <a:schemeClr val="dk1"/>
                </a:solidFill>
                <a:highlight>
                  <a:srgbClr val="00CC7E"/>
                </a:highlight>
                <a:latin typeface="Archivo"/>
                <a:ea typeface="Archivo"/>
                <a:cs typeface="Archivo"/>
                <a:sym typeface="Archivo"/>
              </a:rPr>
              <a:t>correlación</a:t>
            </a:r>
            <a:r>
              <a:rPr b="1" lang="es-419" sz="2500">
                <a:solidFill>
                  <a:schemeClr val="dk1"/>
                </a:solidFill>
                <a:highlight>
                  <a:srgbClr val="00CC7E"/>
                </a:highlight>
                <a:latin typeface="Archivo"/>
                <a:ea typeface="Archivo"/>
                <a:cs typeface="Archivo"/>
                <a:sym typeface="Archivo"/>
              </a:rPr>
              <a:t> positiva </a:t>
            </a:r>
            <a:r>
              <a:rPr b="1" lang="es-419" sz="2500">
                <a:solidFill>
                  <a:schemeClr val="dk1"/>
                </a:solidFill>
                <a:highlight>
                  <a:srgbClr val="00CC7E"/>
                </a:highlight>
                <a:latin typeface="Archivo"/>
                <a:ea typeface="Archivo"/>
                <a:cs typeface="Archivo"/>
                <a:sym typeface="Archivo"/>
              </a:rPr>
              <a:t>fuerte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 que nos indica que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mientras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minutos tenga un jugador en el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partido,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puntos va a anotar.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Esto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nos ayudará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confirmar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</a:t>
            </a:r>
            <a:r>
              <a:rPr b="1" i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hipótesis</a:t>
            </a:r>
            <a:r>
              <a:rPr b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anteriormente planteada sobre el outlier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; </a:t>
            </a:r>
            <a:r>
              <a:rPr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podemos observar que el jugador con la mayor cantidad de puntos anotados (38) es </a:t>
            </a:r>
            <a:r>
              <a:rPr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quien</a:t>
            </a:r>
            <a:r>
              <a:rPr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más</a:t>
            </a:r>
            <a:r>
              <a:rPr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 minutos juega.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3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68" name="Google Shape;1368;p71"/>
          <p:cNvPicPr preferRelativeResize="0"/>
          <p:nvPr/>
        </p:nvPicPr>
        <p:blipFill rotWithShape="1">
          <a:blip r:embed="rId3">
            <a:alphaModFix/>
          </a:blip>
          <a:srcRect b="15012" l="2722" r="2447" t="11002"/>
          <a:stretch/>
        </p:blipFill>
        <p:spPr>
          <a:xfrm>
            <a:off x="6309825" y="7875225"/>
            <a:ext cx="5854950" cy="5361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9" name="Google Shape;1369;p71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81" y="2044975"/>
            <a:ext cx="7158038" cy="46005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70" name="Google Shape;1370;p71"/>
          <p:cNvCxnSpPr/>
          <p:nvPr/>
        </p:nvCxnSpPr>
        <p:spPr>
          <a:xfrm flipH="1" rot="10800000">
            <a:off x="1725625" y="4297825"/>
            <a:ext cx="5803800" cy="1422300"/>
          </a:xfrm>
          <a:prstGeom prst="straightConnector1">
            <a:avLst/>
          </a:prstGeom>
          <a:noFill/>
          <a:ln cap="flat" cmpd="sng" w="76200">
            <a:solidFill>
              <a:srgbClr val="00CC7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71"/>
          <p:cNvSpPr/>
          <p:nvPr/>
        </p:nvSpPr>
        <p:spPr>
          <a:xfrm>
            <a:off x="7231025" y="3031950"/>
            <a:ext cx="350100" cy="4074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6" name="Google Shape;1376;p7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377" name="Google Shape;1377;p7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78" name="Google Shape;1378;p7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7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7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7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7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7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7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7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7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7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7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7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0" name="Google Shape;1390;p7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91" name="Google Shape;1391;p72"/>
          <p:cNvSpPr/>
          <p:nvPr/>
        </p:nvSpPr>
        <p:spPr>
          <a:xfrm>
            <a:off x="489250" y="1982000"/>
            <a:ext cx="8211000" cy="5774700"/>
          </a:xfrm>
          <a:prstGeom prst="wedgeRoundRectCallout">
            <a:avLst>
              <a:gd fmla="val 398" name="adj1"/>
              <a:gd fmla="val 62119" name="adj2"/>
              <a:gd fmla="val 0" name="adj3"/>
            </a:avLst>
          </a:prstGeom>
          <a:solidFill>
            <a:srgbClr val="F2F2F2"/>
          </a:solidFill>
          <a:ln cap="flat" cmpd="sng" w="38100">
            <a:solidFill>
              <a:srgbClr val="858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Podemos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observar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algunas </a:t>
            </a:r>
            <a:r>
              <a:rPr b="1"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medidas 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estadísticas que nos</a:t>
            </a:r>
            <a:r>
              <a:rPr lang="es-419" sz="2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permiten llegar a las siguientes conclusiones:</a:t>
            </a:r>
            <a:endParaRPr sz="2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7350" lvl="0" marL="4572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"/>
              <a:buChar char="■"/>
            </a:pPr>
            <a:r>
              <a:rPr i="1"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En promedio, un jugador anota 7 puntos por partido. </a:t>
            </a:r>
            <a:endParaRPr i="1" sz="2500">
              <a:solidFill>
                <a:schemeClr val="dk1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387350" lvl="0" marL="4572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"/>
              <a:buChar char="■"/>
            </a:pPr>
            <a:r>
              <a:rPr i="1"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El  50% de los jugadores juegan más de 64 partidos por temporada.</a:t>
            </a:r>
            <a:endParaRPr i="1" sz="2500">
              <a:solidFill>
                <a:schemeClr val="dk1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387350" lvl="0" marL="4572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"/>
              <a:buChar char="■"/>
            </a:pPr>
            <a:r>
              <a:rPr i="1"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El valor más repetido del promedio de tiros libres anotados es 0,5.</a:t>
            </a:r>
            <a:endParaRPr i="1" sz="2500">
              <a:solidFill>
                <a:schemeClr val="dk1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387350" lvl="0" marL="4572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"/>
              <a:buChar char="■"/>
            </a:pPr>
            <a:r>
              <a:rPr i="1"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El mínimo de minutos que un jugador juega en un partido de básquet es 3,1.</a:t>
            </a:r>
            <a:endParaRPr i="1" sz="2500">
              <a:solidFill>
                <a:schemeClr val="dk1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387350" lvl="0" marL="4572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"/>
              <a:buChar char="■"/>
            </a:pPr>
            <a:r>
              <a:rPr i="1" lang="es-419" sz="2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El máximo promedio de triples anotados por un jugador es 2,4.</a:t>
            </a:r>
            <a:endParaRPr b="1" i="1" sz="2500">
              <a:solidFill>
                <a:schemeClr val="dk1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92" name="Google Shape;1392;p72"/>
          <p:cNvSpPr txBox="1"/>
          <p:nvPr>
            <p:ph type="title"/>
          </p:nvPr>
        </p:nvSpPr>
        <p:spPr>
          <a:xfrm rot="-5400000">
            <a:off x="-4675700" y="3362200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3" name="Google Shape;1393;p72"/>
          <p:cNvSpPr txBox="1"/>
          <p:nvPr>
            <p:ph idx="2"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Datos Estadísticos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4" name="Google Shape;1394;p72"/>
          <p:cNvPicPr preferRelativeResize="0"/>
          <p:nvPr/>
        </p:nvPicPr>
        <p:blipFill rotWithShape="1">
          <a:blip r:embed="rId3">
            <a:alphaModFix/>
          </a:blip>
          <a:srcRect b="9001" l="1374" r="1208" t="7422"/>
          <a:stretch/>
        </p:blipFill>
        <p:spPr>
          <a:xfrm>
            <a:off x="9234400" y="4028450"/>
            <a:ext cx="8304250" cy="1681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395" name="Google Shape;1395;p72"/>
          <p:cNvGrpSpPr/>
          <p:nvPr/>
        </p:nvGrpSpPr>
        <p:grpSpPr>
          <a:xfrm flipH="1">
            <a:off x="2368797" y="8167814"/>
            <a:ext cx="2128492" cy="2119191"/>
            <a:chOff x="10074888" y="3250962"/>
            <a:chExt cx="1542833" cy="1536091"/>
          </a:xfrm>
        </p:grpSpPr>
        <p:sp>
          <p:nvSpPr>
            <p:cNvPr id="1396" name="Google Shape;1396;p72"/>
            <p:cNvSpPr/>
            <p:nvPr/>
          </p:nvSpPr>
          <p:spPr>
            <a:xfrm>
              <a:off x="10074888" y="3684451"/>
              <a:ext cx="1542833" cy="905725"/>
            </a:xfrm>
            <a:custGeom>
              <a:rect b="b" l="l" r="r" t="t"/>
              <a:pathLst>
                <a:path extrusionOk="0" h="8207" w="13980">
                  <a:moveTo>
                    <a:pt x="1" y="1"/>
                  </a:moveTo>
                  <a:lnTo>
                    <a:pt x="1" y="8206"/>
                  </a:lnTo>
                  <a:lnTo>
                    <a:pt x="13979" y="8206"/>
                  </a:lnTo>
                  <a:lnTo>
                    <a:pt x="1397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72"/>
            <p:cNvSpPr/>
            <p:nvPr/>
          </p:nvSpPr>
          <p:spPr>
            <a:xfrm>
              <a:off x="10236011" y="3983193"/>
              <a:ext cx="1213077" cy="606980"/>
            </a:xfrm>
            <a:custGeom>
              <a:rect b="b" l="l" r="r" t="t"/>
              <a:pathLst>
                <a:path extrusionOk="0" h="5500" w="10992">
                  <a:moveTo>
                    <a:pt x="5499" y="1"/>
                  </a:moveTo>
                  <a:cubicBezTo>
                    <a:pt x="2463" y="1"/>
                    <a:pt x="1" y="2463"/>
                    <a:pt x="1" y="5499"/>
                  </a:cubicBezTo>
                  <a:lnTo>
                    <a:pt x="10992" y="5499"/>
                  </a:lnTo>
                  <a:cubicBezTo>
                    <a:pt x="10992" y="2463"/>
                    <a:pt x="8530" y="1"/>
                    <a:pt x="54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72"/>
            <p:cNvSpPr/>
            <p:nvPr/>
          </p:nvSpPr>
          <p:spPr>
            <a:xfrm>
              <a:off x="10494249" y="3250962"/>
              <a:ext cx="697365" cy="697254"/>
            </a:xfrm>
            <a:custGeom>
              <a:rect b="b" l="l" r="r" t="t"/>
              <a:pathLst>
                <a:path extrusionOk="0" h="6318" w="6319">
                  <a:moveTo>
                    <a:pt x="3159" y="0"/>
                  </a:moveTo>
                  <a:cubicBezTo>
                    <a:pt x="1412" y="0"/>
                    <a:pt x="1" y="1412"/>
                    <a:pt x="1" y="3159"/>
                  </a:cubicBezTo>
                  <a:cubicBezTo>
                    <a:pt x="1" y="4900"/>
                    <a:pt x="1412" y="6318"/>
                    <a:pt x="3159" y="6318"/>
                  </a:cubicBezTo>
                  <a:cubicBezTo>
                    <a:pt x="4901" y="6318"/>
                    <a:pt x="6318" y="4900"/>
                    <a:pt x="6318" y="3159"/>
                  </a:cubicBezTo>
                  <a:cubicBezTo>
                    <a:pt x="6318" y="1412"/>
                    <a:pt x="4901" y="0"/>
                    <a:pt x="315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72"/>
            <p:cNvSpPr/>
            <p:nvPr/>
          </p:nvSpPr>
          <p:spPr>
            <a:xfrm>
              <a:off x="10327057" y="3363484"/>
              <a:ext cx="356132" cy="356132"/>
            </a:xfrm>
            <a:custGeom>
              <a:rect b="b" l="l" r="r" t="t"/>
              <a:pathLst>
                <a:path extrusionOk="0" h="3227" w="3227">
                  <a:moveTo>
                    <a:pt x="1613" y="153"/>
                  </a:moveTo>
                  <a:cubicBezTo>
                    <a:pt x="2420" y="153"/>
                    <a:pt x="3074" y="813"/>
                    <a:pt x="3074" y="1613"/>
                  </a:cubicBezTo>
                  <a:cubicBezTo>
                    <a:pt x="3074" y="2420"/>
                    <a:pt x="2420" y="3073"/>
                    <a:pt x="1613" y="3073"/>
                  </a:cubicBezTo>
                  <a:cubicBezTo>
                    <a:pt x="807" y="3073"/>
                    <a:pt x="153" y="2420"/>
                    <a:pt x="153" y="1613"/>
                  </a:cubicBezTo>
                  <a:cubicBezTo>
                    <a:pt x="153" y="813"/>
                    <a:pt x="807" y="153"/>
                    <a:pt x="1613" y="153"/>
                  </a:cubicBezTo>
                  <a:close/>
                  <a:moveTo>
                    <a:pt x="1613" y="0"/>
                  </a:moveTo>
                  <a:cubicBezTo>
                    <a:pt x="728" y="0"/>
                    <a:pt x="1" y="727"/>
                    <a:pt x="1" y="1613"/>
                  </a:cubicBezTo>
                  <a:cubicBezTo>
                    <a:pt x="1" y="2505"/>
                    <a:pt x="728" y="3226"/>
                    <a:pt x="1613" y="3226"/>
                  </a:cubicBezTo>
                  <a:cubicBezTo>
                    <a:pt x="2506" y="3226"/>
                    <a:pt x="3226" y="2505"/>
                    <a:pt x="3226" y="1613"/>
                  </a:cubicBezTo>
                  <a:cubicBezTo>
                    <a:pt x="3226" y="727"/>
                    <a:pt x="2506" y="0"/>
                    <a:pt x="16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72"/>
            <p:cNvSpPr/>
            <p:nvPr/>
          </p:nvSpPr>
          <p:spPr>
            <a:xfrm>
              <a:off x="10777429" y="3363484"/>
              <a:ext cx="356132" cy="356132"/>
            </a:xfrm>
            <a:custGeom>
              <a:rect b="b" l="l" r="r" t="t"/>
              <a:pathLst>
                <a:path extrusionOk="0" h="3227" w="3227">
                  <a:moveTo>
                    <a:pt x="1614" y="153"/>
                  </a:moveTo>
                  <a:cubicBezTo>
                    <a:pt x="2420" y="153"/>
                    <a:pt x="3074" y="813"/>
                    <a:pt x="3074" y="1613"/>
                  </a:cubicBezTo>
                  <a:cubicBezTo>
                    <a:pt x="3074" y="2420"/>
                    <a:pt x="2420" y="3073"/>
                    <a:pt x="1614" y="3073"/>
                  </a:cubicBezTo>
                  <a:cubicBezTo>
                    <a:pt x="813" y="3073"/>
                    <a:pt x="154" y="2420"/>
                    <a:pt x="154" y="1613"/>
                  </a:cubicBezTo>
                  <a:cubicBezTo>
                    <a:pt x="154" y="813"/>
                    <a:pt x="813" y="153"/>
                    <a:pt x="1614" y="153"/>
                  </a:cubicBezTo>
                  <a:close/>
                  <a:moveTo>
                    <a:pt x="1614" y="0"/>
                  </a:moveTo>
                  <a:cubicBezTo>
                    <a:pt x="728" y="0"/>
                    <a:pt x="1" y="727"/>
                    <a:pt x="1" y="1613"/>
                  </a:cubicBezTo>
                  <a:cubicBezTo>
                    <a:pt x="1" y="2505"/>
                    <a:pt x="728" y="3226"/>
                    <a:pt x="1614" y="3226"/>
                  </a:cubicBezTo>
                  <a:cubicBezTo>
                    <a:pt x="2506" y="3226"/>
                    <a:pt x="3227" y="2505"/>
                    <a:pt x="3227" y="1613"/>
                  </a:cubicBezTo>
                  <a:cubicBezTo>
                    <a:pt x="3227" y="727"/>
                    <a:pt x="2506" y="0"/>
                    <a:pt x="1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72"/>
            <p:cNvSpPr/>
            <p:nvPr/>
          </p:nvSpPr>
          <p:spPr>
            <a:xfrm>
              <a:off x="10675016" y="3503102"/>
              <a:ext cx="111353" cy="16995"/>
            </a:xfrm>
            <a:custGeom>
              <a:rect b="b" l="l" r="r" t="t"/>
              <a:pathLst>
                <a:path extrusionOk="0" h="154" w="1009">
                  <a:moveTo>
                    <a:pt x="0" y="1"/>
                  </a:moveTo>
                  <a:lnTo>
                    <a:pt x="0" y="154"/>
                  </a:lnTo>
                  <a:lnTo>
                    <a:pt x="1008" y="154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72"/>
            <p:cNvSpPr/>
            <p:nvPr/>
          </p:nvSpPr>
          <p:spPr>
            <a:xfrm>
              <a:off x="10720153" y="3516014"/>
              <a:ext cx="66216" cy="138943"/>
            </a:xfrm>
            <a:custGeom>
              <a:rect b="b" l="l" r="r" t="t"/>
              <a:pathLst>
                <a:path extrusionOk="0" h="1259" w="600">
                  <a:moveTo>
                    <a:pt x="0" y="0"/>
                  </a:moveTo>
                  <a:lnTo>
                    <a:pt x="0" y="1259"/>
                  </a:lnTo>
                  <a:lnTo>
                    <a:pt x="599" y="1259"/>
                  </a:lnTo>
                  <a:lnTo>
                    <a:pt x="599" y="1106"/>
                  </a:lnTo>
                  <a:lnTo>
                    <a:pt x="153" y="1106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72"/>
            <p:cNvSpPr/>
            <p:nvPr/>
          </p:nvSpPr>
          <p:spPr>
            <a:xfrm>
              <a:off x="10414019" y="4207000"/>
              <a:ext cx="863898" cy="580052"/>
            </a:xfrm>
            <a:custGeom>
              <a:rect b="b" l="l" r="r" t="t"/>
              <a:pathLst>
                <a:path extrusionOk="0" h="5256" w="7828">
                  <a:moveTo>
                    <a:pt x="899" y="1"/>
                  </a:moveTo>
                  <a:cubicBezTo>
                    <a:pt x="404" y="1"/>
                    <a:pt x="1" y="410"/>
                    <a:pt x="1" y="911"/>
                  </a:cubicBezTo>
                  <a:lnTo>
                    <a:pt x="1" y="5255"/>
                  </a:lnTo>
                  <a:lnTo>
                    <a:pt x="7827" y="5255"/>
                  </a:lnTo>
                  <a:lnTo>
                    <a:pt x="7827" y="911"/>
                  </a:lnTo>
                  <a:cubicBezTo>
                    <a:pt x="7827" y="410"/>
                    <a:pt x="7424" y="1"/>
                    <a:pt x="69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72"/>
            <p:cNvSpPr/>
            <p:nvPr/>
          </p:nvSpPr>
          <p:spPr>
            <a:xfrm>
              <a:off x="10664201" y="4327071"/>
              <a:ext cx="378314" cy="344875"/>
            </a:xfrm>
            <a:custGeom>
              <a:rect b="b" l="l" r="r" t="t"/>
              <a:pathLst>
                <a:path extrusionOk="0" h="3125" w="3428">
                  <a:moveTo>
                    <a:pt x="1711" y="0"/>
                  </a:moveTo>
                  <a:cubicBezTo>
                    <a:pt x="1311" y="0"/>
                    <a:pt x="911" y="153"/>
                    <a:pt x="605" y="459"/>
                  </a:cubicBezTo>
                  <a:cubicBezTo>
                    <a:pt x="0" y="1070"/>
                    <a:pt x="0" y="2059"/>
                    <a:pt x="605" y="2670"/>
                  </a:cubicBezTo>
                  <a:cubicBezTo>
                    <a:pt x="911" y="2973"/>
                    <a:pt x="1311" y="3124"/>
                    <a:pt x="1711" y="3124"/>
                  </a:cubicBezTo>
                  <a:cubicBezTo>
                    <a:pt x="2111" y="3124"/>
                    <a:pt x="2511" y="2973"/>
                    <a:pt x="2817" y="2670"/>
                  </a:cubicBezTo>
                  <a:cubicBezTo>
                    <a:pt x="3428" y="2059"/>
                    <a:pt x="3428" y="1070"/>
                    <a:pt x="2817" y="459"/>
                  </a:cubicBezTo>
                  <a:cubicBezTo>
                    <a:pt x="2511" y="153"/>
                    <a:pt x="2111" y="0"/>
                    <a:pt x="1711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72"/>
            <p:cNvSpPr/>
            <p:nvPr/>
          </p:nvSpPr>
          <p:spPr>
            <a:xfrm>
              <a:off x="10792989" y="4378277"/>
              <a:ext cx="120734" cy="72948"/>
            </a:xfrm>
            <a:custGeom>
              <a:rect b="b" l="l" r="r" t="t"/>
              <a:pathLst>
                <a:path extrusionOk="0" h="661" w="1094">
                  <a:moveTo>
                    <a:pt x="544" y="1"/>
                  </a:moveTo>
                  <a:lnTo>
                    <a:pt x="0" y="551"/>
                  </a:lnTo>
                  <a:lnTo>
                    <a:pt x="104" y="661"/>
                  </a:lnTo>
                  <a:lnTo>
                    <a:pt x="544" y="221"/>
                  </a:lnTo>
                  <a:lnTo>
                    <a:pt x="984" y="661"/>
                  </a:lnTo>
                  <a:lnTo>
                    <a:pt x="1094" y="55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72"/>
            <p:cNvSpPr/>
            <p:nvPr/>
          </p:nvSpPr>
          <p:spPr>
            <a:xfrm>
              <a:off x="10844857" y="4390417"/>
              <a:ext cx="16995" cy="217961"/>
            </a:xfrm>
            <a:custGeom>
              <a:rect b="b" l="l" r="r" t="t"/>
              <a:pathLst>
                <a:path extrusionOk="0" h="1975" w="154">
                  <a:moveTo>
                    <a:pt x="1" y="1"/>
                  </a:moveTo>
                  <a:lnTo>
                    <a:pt x="1" y="1974"/>
                  </a:lnTo>
                  <a:lnTo>
                    <a:pt x="153" y="1974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72"/>
            <p:cNvSpPr/>
            <p:nvPr/>
          </p:nvSpPr>
          <p:spPr>
            <a:xfrm>
              <a:off x="10681086" y="4327071"/>
              <a:ext cx="343992" cy="343992"/>
            </a:xfrm>
            <a:custGeom>
              <a:rect b="b" l="l" r="r" t="t"/>
              <a:pathLst>
                <a:path extrusionOk="0" h="3117" w="3117">
                  <a:moveTo>
                    <a:pt x="1558" y="0"/>
                  </a:moveTo>
                  <a:cubicBezTo>
                    <a:pt x="703" y="0"/>
                    <a:pt x="0" y="697"/>
                    <a:pt x="0" y="1558"/>
                  </a:cubicBezTo>
                  <a:cubicBezTo>
                    <a:pt x="0" y="2420"/>
                    <a:pt x="703" y="3116"/>
                    <a:pt x="1558" y="3116"/>
                  </a:cubicBezTo>
                  <a:cubicBezTo>
                    <a:pt x="2420" y="3116"/>
                    <a:pt x="3116" y="2420"/>
                    <a:pt x="3116" y="1558"/>
                  </a:cubicBezTo>
                  <a:cubicBezTo>
                    <a:pt x="3116" y="697"/>
                    <a:pt x="2420" y="0"/>
                    <a:pt x="15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2" name="Google Shape;1412;p73"/>
          <p:cNvGrpSpPr/>
          <p:nvPr/>
        </p:nvGrpSpPr>
        <p:grpSpPr>
          <a:xfrm>
            <a:off x="5859698" y="4828600"/>
            <a:ext cx="6568603" cy="4621399"/>
            <a:chOff x="12616253" y="4062668"/>
            <a:chExt cx="4520095" cy="3328819"/>
          </a:xfrm>
        </p:grpSpPr>
        <p:sp>
          <p:nvSpPr>
            <p:cNvPr id="1413" name="Google Shape;1413;p73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73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73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73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73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73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73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73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73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73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73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73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73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73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73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73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73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73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73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73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73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73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73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73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73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73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73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73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73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73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3" name="Google Shape;1443;p73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1444" name="Google Shape;1444;p73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73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73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73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73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73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73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73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73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73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73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73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73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73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73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73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73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73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73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73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73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73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6" name="Google Shape;1466;p73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467" name="Google Shape;1467;p7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68" name="Google Shape;1468;p7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7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7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7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7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7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7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7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7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7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7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7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0" name="Google Shape;1480;p7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81" name="Google Shape;1481;p73"/>
          <p:cNvSpPr txBox="1"/>
          <p:nvPr>
            <p:ph type="title"/>
          </p:nvPr>
        </p:nvSpPr>
        <p:spPr>
          <a:xfrm>
            <a:off x="2185300" y="1484200"/>
            <a:ext cx="139500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¡Muchas gracias!</a:t>
            </a:r>
            <a:endParaRPr sz="70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74"/>
          <p:cNvSpPr txBox="1"/>
          <p:nvPr/>
        </p:nvSpPr>
        <p:spPr>
          <a:xfrm>
            <a:off x="1919575" y="934975"/>
            <a:ext cx="162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30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Estadística 03: Correlación y Dispersión</a:t>
            </a: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forma parte de…</a:t>
            </a:r>
            <a:endParaRPr i="1" sz="3000">
              <a:solidFill>
                <a:schemeClr val="lt1"/>
              </a:solidFill>
            </a:endParaRPr>
          </a:p>
        </p:txBody>
      </p:sp>
      <p:grpSp>
        <p:nvGrpSpPr>
          <p:cNvPr id="1487" name="Google Shape;1487;p74"/>
          <p:cNvGrpSpPr/>
          <p:nvPr/>
        </p:nvGrpSpPr>
        <p:grpSpPr>
          <a:xfrm>
            <a:off x="12385874" y="2440074"/>
            <a:ext cx="5339050" cy="2336975"/>
            <a:chOff x="8750249" y="2583999"/>
            <a:chExt cx="5339050" cy="2336975"/>
          </a:xfrm>
        </p:grpSpPr>
        <p:sp>
          <p:nvSpPr>
            <p:cNvPr id="1488" name="Google Shape;1488;p74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74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74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74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74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74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74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74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74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74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74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74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74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74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74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74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74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74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74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74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74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74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74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74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74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74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74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74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74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74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74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74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74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74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74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74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74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74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74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74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74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74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74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74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74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3" name="Google Shape;1533;p74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1534" name="Google Shape;1534;p74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535" name="Google Shape;1535;p74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36" name="Google Shape;1536;p74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37" name="Google Shape;1537;p74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8" name="Google Shape;1538;p74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9" name="Google Shape;1539;p74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0" name="Google Shape;1540;p74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1" name="Google Shape;1541;p74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42" name="Google Shape;1542;p74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543" name="Google Shape;1543;p74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4" name="Google Shape;1544;p74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5" name="Google Shape;1545;p74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546" name="Google Shape;1546;p74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7" name="Google Shape;1547;p74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548" name="Google Shape;1548;p74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9" name="Google Shape;1549;p74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50" name="Google Shape;1550;p74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1551" name="Google Shape;1551;p74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552" name="Google Shape;1552;p74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53" name="Google Shape;1553;p74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54" name="Google Shape;1554;p74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55" name="Google Shape;1555;p74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556" name="Google Shape;1556;p74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7" name="Google Shape;1557;p74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8" name="Google Shape;1558;p74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559" name="Google Shape;1559;p74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560" name="Google Shape;1560;p74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1" name="Google Shape;1561;p74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62" name="Google Shape;1562;p74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63" name="Google Shape;1563;p74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64" name="Google Shape;1564;p74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565" name="Google Shape;1565;p74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6" name="Google Shape;1566;p74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7" name="Google Shape;1567;p74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8" name="Google Shape;1568;p74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9" name="Google Shape;1569;p74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0" name="Google Shape;1570;p74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1" name="Google Shape;1571;p74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2" name="Google Shape;1572;p74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3" name="Google Shape;1573;p74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4" name="Google Shape;1574;p74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5" name="Google Shape;1575;p74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6" name="Google Shape;1576;p74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7" name="Google Shape;1577;p74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8" name="Google Shape;1578;p74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9" name="Google Shape;1579;p74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0" name="Google Shape;1580;p74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1" name="Google Shape;1581;p74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2" name="Google Shape;1582;p74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3" name="Google Shape;1583;p74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4" name="Google Shape;1584;p74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5" name="Google Shape;1585;p74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6" name="Google Shape;1586;p74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7" name="Google Shape;1587;p74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8" name="Google Shape;1588;p74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9" name="Google Shape;1589;p74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90" name="Google Shape;1590;p74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91" name="Google Shape;1591;p74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592" name="Google Shape;1592;p74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3" name="Google Shape;1593;p74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594" name="Google Shape;1594;p74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74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96" name="Google Shape;1596;p74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1597" name="Google Shape;1597;p74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598" name="Google Shape;1598;p74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599" name="Google Shape;1599;p74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0" name="Google Shape;1600;p74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601" name="Google Shape;1601;p74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602" name="Google Shape;1602;p74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3" name="Google Shape;1603;p74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4" name="Google Shape;1604;p74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5" name="Google Shape;1605;p74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6" name="Google Shape;1606;p74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7" name="Google Shape;1607;p74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8" name="Google Shape;1608;p74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9" name="Google Shape;1609;p74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0" name="Google Shape;1610;p74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1" name="Google Shape;1611;p74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12" name="Google Shape;1612;p74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3" name="Google Shape;1613;p74"/>
          <p:cNvSpPr txBox="1"/>
          <p:nvPr/>
        </p:nvSpPr>
        <p:spPr>
          <a:xfrm>
            <a:off x="7769400" y="5754150"/>
            <a:ext cx="936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3600"/>
          </a:p>
        </p:txBody>
      </p:sp>
      <p:sp>
        <p:nvSpPr>
          <p:cNvPr id="1614" name="Google Shape;1614;p74"/>
          <p:cNvSpPr txBox="1"/>
          <p:nvPr/>
        </p:nvSpPr>
        <p:spPr>
          <a:xfrm>
            <a:off x="6475675" y="8282350"/>
            <a:ext cx="815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Data.</a:t>
            </a:r>
            <a:endParaRPr i="1" sz="3000"/>
          </a:p>
        </p:txBody>
      </p:sp>
      <p:sp>
        <p:nvSpPr>
          <p:cNvPr id="1615" name="Google Shape;1615;p74"/>
          <p:cNvSpPr txBox="1"/>
          <p:nvPr/>
        </p:nvSpPr>
        <p:spPr>
          <a:xfrm>
            <a:off x="6475675" y="7149638"/>
            <a:ext cx="899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Fundamentos de Estadística</a:t>
            </a:r>
            <a:endParaRPr i="1" sz="3000"/>
          </a:p>
        </p:txBody>
      </p:sp>
      <p:sp>
        <p:nvSpPr>
          <p:cNvPr id="1616" name="Google Shape;1616;p74"/>
          <p:cNvSpPr/>
          <p:nvPr/>
        </p:nvSpPr>
        <p:spPr>
          <a:xfrm>
            <a:off x="15507659" y="9121831"/>
            <a:ext cx="104348" cy="104559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74"/>
          <p:cNvSpPr/>
          <p:nvPr/>
        </p:nvSpPr>
        <p:spPr>
          <a:xfrm>
            <a:off x="15521261" y="9254612"/>
            <a:ext cx="78363" cy="78369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8" name="Google Shape;1618;p74"/>
          <p:cNvGrpSpPr/>
          <p:nvPr/>
        </p:nvGrpSpPr>
        <p:grpSpPr>
          <a:xfrm>
            <a:off x="15199342" y="7835446"/>
            <a:ext cx="2520294" cy="2540575"/>
            <a:chOff x="15204966" y="7201785"/>
            <a:chExt cx="3082552" cy="3107357"/>
          </a:xfrm>
        </p:grpSpPr>
        <p:grpSp>
          <p:nvGrpSpPr>
            <p:cNvPr id="1619" name="Google Shape;1619;p74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1620" name="Google Shape;1620;p74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74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74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74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74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74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74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74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74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74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30" name="Google Shape;1630;p74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1" name="Google Shape;1631;p74"/>
          <p:cNvGrpSpPr/>
          <p:nvPr/>
        </p:nvGrpSpPr>
        <p:grpSpPr>
          <a:xfrm>
            <a:off x="5454329" y="8254961"/>
            <a:ext cx="961573" cy="646426"/>
            <a:chOff x="2745675" y="1571799"/>
            <a:chExt cx="4474516" cy="3008034"/>
          </a:xfrm>
        </p:grpSpPr>
        <p:sp>
          <p:nvSpPr>
            <p:cNvPr id="1632" name="Google Shape;1632;p74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74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74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74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74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74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74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74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74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74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74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3" name="Google Shape;1643;p74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1644" name="Google Shape;1644;p74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74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6" name="Google Shape;1646;p74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7" name="Google Shape;1647;p74"/>
          <p:cNvGrpSpPr/>
          <p:nvPr/>
        </p:nvGrpSpPr>
        <p:grpSpPr>
          <a:xfrm>
            <a:off x="14061414" y="153601"/>
            <a:ext cx="3957972" cy="536147"/>
            <a:chOff x="14061414" y="9450001"/>
            <a:chExt cx="3957972" cy="536147"/>
          </a:xfrm>
        </p:grpSpPr>
        <p:grpSp>
          <p:nvGrpSpPr>
            <p:cNvPr id="1648" name="Google Shape;1648;p74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1649" name="Google Shape;1649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0" name="Google Shape;1650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1" name="Google Shape;1651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2" name="Google Shape;1652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3" name="Google Shape;1653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4" name="Google Shape;1654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5" name="Google Shape;1655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6" name="Google Shape;1656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7" name="Google Shape;1657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8" name="Google Shape;1658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59" name="Google Shape;1659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660" name="Google Shape;1660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661" name="Google Shape;1661;p74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62" name="Google Shape;1662;p74"/>
          <p:cNvSpPr txBox="1"/>
          <p:nvPr>
            <p:ph type="title"/>
          </p:nvPr>
        </p:nvSpPr>
        <p:spPr>
          <a:xfrm>
            <a:off x="6703100" y="2627200"/>
            <a:ext cx="5339100" cy="13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663" name="Google Shape;1663;p74"/>
          <p:cNvGrpSpPr/>
          <p:nvPr/>
        </p:nvGrpSpPr>
        <p:grpSpPr>
          <a:xfrm>
            <a:off x="5486512" y="7176662"/>
            <a:ext cx="700623" cy="536178"/>
            <a:chOff x="12870166" y="7583426"/>
            <a:chExt cx="1461154" cy="1118203"/>
          </a:xfrm>
        </p:grpSpPr>
        <p:sp>
          <p:nvSpPr>
            <p:cNvPr id="1664" name="Google Shape;1664;p74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74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74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74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74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74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74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74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74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74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74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74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74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74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74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74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74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1" name="Google Shape;1681;p74"/>
          <p:cNvGrpSpPr/>
          <p:nvPr/>
        </p:nvGrpSpPr>
        <p:grpSpPr>
          <a:xfrm>
            <a:off x="5295654" y="5649814"/>
            <a:ext cx="2209298" cy="967022"/>
            <a:chOff x="66465" y="28380"/>
            <a:chExt cx="6779066" cy="2967236"/>
          </a:xfrm>
        </p:grpSpPr>
        <p:sp>
          <p:nvSpPr>
            <p:cNvPr id="1682" name="Google Shape;1682;p74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74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74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74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74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74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74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74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74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74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74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74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74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74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74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74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74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74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74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74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74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74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74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74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74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74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74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74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74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74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2" name="Google Shape;1712;p74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1713" name="Google Shape;1713;p74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714" name="Google Shape;1714;p74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715" name="Google Shape;1715;p74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6" name="Google Shape;1716;p74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717" name="Google Shape;1717;p74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718" name="Google Shape;1718;p74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9" name="Google Shape;1719;p74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0" name="Google Shape;1720;p74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1" name="Google Shape;1721;p74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2" name="Google Shape;1722;p74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3" name="Google Shape;1723;p74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4" name="Google Shape;1724;p74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5" name="Google Shape;1725;p74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6" name="Google Shape;1726;p74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7" name="Google Shape;1727;p74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28" name="Google Shape;1728;p74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9" name="Google Shape;1729;p74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74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1" name="Google Shape;1731;p74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1732" name="Google Shape;1732;p74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733" name="Google Shape;1733;p74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734" name="Google Shape;1734;p74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735" name="Google Shape;1735;p74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6" name="Google Shape;1736;p74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7" name="Google Shape;1737;p74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8" name="Google Shape;1738;p74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9" name="Google Shape;1739;p74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40" name="Google Shape;1740;p74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741" name="Google Shape;1741;p74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2" name="Google Shape;1742;p74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3" name="Google Shape;1743;p74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744" name="Google Shape;1744;p74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45" name="Google Shape;1745;p74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746" name="Google Shape;1746;p74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7" name="Google Shape;1747;p74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748" name="Google Shape;1748;p74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74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74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74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74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74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74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74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74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74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74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74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74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74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74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3" name="Google Shape;1763;p74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1764" name="Google Shape;1764;p74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765" name="Google Shape;1765;p74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766" name="Google Shape;1766;p74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767" name="Google Shape;1767;p74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68" name="Google Shape;1768;p74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769" name="Google Shape;1769;p74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0" name="Google Shape;1770;p74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1" name="Google Shape;1771;p74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772" name="Google Shape;1772;p74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773" name="Google Shape;1773;p74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4" name="Google Shape;1774;p74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775" name="Google Shape;1775;p74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776" name="Google Shape;1776;p74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77" name="Google Shape;1777;p74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778" name="Google Shape;1778;p74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9" name="Google Shape;1779;p74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0" name="Google Shape;1780;p74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1" name="Google Shape;1781;p74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2" name="Google Shape;1782;p74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3" name="Google Shape;1783;p74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4" name="Google Shape;1784;p74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5" name="Google Shape;1785;p74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6" name="Google Shape;1786;p74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7" name="Google Shape;1787;p74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8" name="Google Shape;1788;p74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9" name="Google Shape;1789;p74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0" name="Google Shape;1790;p74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1" name="Google Shape;1791;p74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2" name="Google Shape;1792;p74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3" name="Google Shape;1793;p74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4" name="Google Shape;1794;p74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5" name="Google Shape;1795;p74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6" name="Google Shape;1796;p74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7" name="Google Shape;1797;p74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8" name="Google Shape;1798;p74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9" name="Google Shape;1799;p74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0" name="Google Shape;1800;p74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1" name="Google Shape;1801;p74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2" name="Google Shape;1802;p74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03" name="Google Shape;1803;p74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04" name="Google Shape;1804;p74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805" name="Google Shape;1805;p74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6" name="Google Shape;1806;p74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